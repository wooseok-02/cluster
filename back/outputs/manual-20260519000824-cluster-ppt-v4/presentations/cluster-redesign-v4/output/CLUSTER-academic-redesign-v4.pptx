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060abcb574b30" /><Relationship Type="http://schemas.openxmlformats.org/officeDocument/2006/relationships/extended-properties" Target="/docProps/app.xml" Id="R93128b8bc8154df8" /><Relationship Type="http://schemas.openxmlformats.org/officeDocument/2006/relationships/officeDocument" Target="/ppt/presentation.xml" Id="Rcd411c45f9e241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88096e98c4030"/>
  </p:sldMasterIdLst>
  <p:notesMasterIdLst>
    <p:notesMasterId xmlns:r="http://schemas.openxmlformats.org/officeDocument/2006/relationships" r:id="Rb7f57202969a49cf"/>
  </p:notesMasterIdLst>
  <p:sldIdLst>
    <p:sldId xmlns:r="http://schemas.openxmlformats.org/officeDocument/2006/relationships" id="256" r:id="R7659b56025dd4fc3"/>
    <p:sldId xmlns:r="http://schemas.openxmlformats.org/officeDocument/2006/relationships" id="257" r:id="Rb76d0fc58ba64cbc"/>
    <p:sldId xmlns:r="http://schemas.openxmlformats.org/officeDocument/2006/relationships" id="258" r:id="Rbeb5c247a65c4a00"/>
    <p:sldId xmlns:r="http://schemas.openxmlformats.org/officeDocument/2006/relationships" id="259" r:id="Rf53edd99b4ca421e"/>
    <p:sldId xmlns:r="http://schemas.openxmlformats.org/officeDocument/2006/relationships" id="260" r:id="R891537a9a69640aa"/>
    <p:sldId xmlns:r="http://schemas.openxmlformats.org/officeDocument/2006/relationships" id="261" r:id="R39ac2474ccc84397"/>
    <p:sldId xmlns:r="http://schemas.openxmlformats.org/officeDocument/2006/relationships" id="262" r:id="R052351c5d12d4376"/>
    <p:sldId xmlns:r="http://schemas.openxmlformats.org/officeDocument/2006/relationships" id="263" r:id="Rebcb0c3a70f54dec"/>
    <p:sldId xmlns:r="http://schemas.openxmlformats.org/officeDocument/2006/relationships" id="264" r:id="R55c1bc7dde734f4e"/>
    <p:sldId xmlns:r="http://schemas.openxmlformats.org/officeDocument/2006/relationships" id="265" r:id="R58adaf2cf2d84424"/>
    <p:sldId xmlns:r="http://schemas.openxmlformats.org/officeDocument/2006/relationships" id="266" r:id="R92cce670731c4973"/>
    <p:sldId xmlns:r="http://schemas.openxmlformats.org/officeDocument/2006/relationships" id="267" r:id="R9736dd23ebb74dbd"/>
    <p:sldId xmlns:r="http://schemas.openxmlformats.org/officeDocument/2006/relationships" id="268" r:id="Rfeeb17f177b947c0"/>
    <p:sldId xmlns:r="http://schemas.openxmlformats.org/officeDocument/2006/relationships" id="269" r:id="R262510e32fa74811"/>
    <p:sldId xmlns:r="http://schemas.openxmlformats.org/officeDocument/2006/relationships" id="270" r:id="Rd1138605245d41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88096e98c4030" /><Relationship Type="http://schemas.openxmlformats.org/officeDocument/2006/relationships/theme" Target="/ppt/theme/theme1.xml" Id="Rfc27bd576e244657" /><Relationship Type="http://schemas.openxmlformats.org/officeDocument/2006/relationships/notesMaster" Target="/ppt/notesMasters/notesMaster1.xml" Id="Rb7f57202969a49cf" /><Relationship Type="http://schemas.openxmlformats.org/officeDocument/2006/relationships/presProps" Target="/ppt/presProps.xml" Id="R8681f13c9a6d41ca" /><Relationship Type="http://schemas.openxmlformats.org/officeDocument/2006/relationships/viewProps" Target="/ppt/viewProps.xml" Id="R891c3b8e3a7e4e56" /><Relationship Type="http://schemas.openxmlformats.org/officeDocument/2006/relationships/tableStyles" Target="/ppt/tableStyles.xml" Id="Rd3940917e884468f" /><Relationship Type="http://schemas.openxmlformats.org/officeDocument/2006/relationships/slide" Target="/ppt/slides/slide1.xml" Id="R7659b56025dd4fc3" /><Relationship Type="http://schemas.openxmlformats.org/officeDocument/2006/relationships/slide" Target="/ppt/slides/slide2.xml" Id="Rb76d0fc58ba64cbc" /><Relationship Type="http://schemas.openxmlformats.org/officeDocument/2006/relationships/slide" Target="/ppt/slides/slide3.xml" Id="Rbeb5c247a65c4a00" /><Relationship Type="http://schemas.openxmlformats.org/officeDocument/2006/relationships/slide" Target="/ppt/slides/slide4.xml" Id="Rf53edd99b4ca421e" /><Relationship Type="http://schemas.openxmlformats.org/officeDocument/2006/relationships/slide" Target="/ppt/slides/slide5.xml" Id="R891537a9a69640aa" /><Relationship Type="http://schemas.openxmlformats.org/officeDocument/2006/relationships/slide" Target="/ppt/slides/slide6.xml" Id="R39ac2474ccc84397" /><Relationship Type="http://schemas.openxmlformats.org/officeDocument/2006/relationships/slide" Target="/ppt/slides/slide7.xml" Id="R052351c5d12d4376" /><Relationship Type="http://schemas.openxmlformats.org/officeDocument/2006/relationships/slide" Target="/ppt/slides/slide8.xml" Id="Rebcb0c3a70f54dec" /><Relationship Type="http://schemas.openxmlformats.org/officeDocument/2006/relationships/slide" Target="/ppt/slides/slide9.xml" Id="R55c1bc7dde734f4e" /><Relationship Type="http://schemas.openxmlformats.org/officeDocument/2006/relationships/slide" Target="/ppt/slides/slide10.xml" Id="R58adaf2cf2d84424" /><Relationship Type="http://schemas.openxmlformats.org/officeDocument/2006/relationships/slide" Target="/ppt/slides/slide11.xml" Id="R92cce670731c4973" /><Relationship Type="http://schemas.openxmlformats.org/officeDocument/2006/relationships/slide" Target="/ppt/slides/slide12.xml" Id="R9736dd23ebb74dbd" /><Relationship Type="http://schemas.openxmlformats.org/officeDocument/2006/relationships/slide" Target="/ppt/slides/slide13.xml" Id="Rfeeb17f177b947c0" /><Relationship Type="http://schemas.openxmlformats.org/officeDocument/2006/relationships/slide" Target="/ppt/slides/slide14.xml" Id="R262510e32fa74811" /><Relationship Type="http://schemas.openxmlformats.org/officeDocument/2006/relationships/slide" Target="/ppt/slides/slide15.xml" Id="Rd1138605245d41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c71682bd0443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b8afd2d2b74f69" /><Relationship Type="http://schemas.openxmlformats.org/officeDocument/2006/relationships/notesMaster" Target="/ppt/notesMasters/notesMaster1.xml" Id="R97a90bb7d5d546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6755d16614873" /><Relationship Type="http://schemas.openxmlformats.org/officeDocument/2006/relationships/notesMaster" Target="/ppt/notesMasters/notesMaster1.xml" Id="R59eca5698bee4b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1f4d32e094db2" /><Relationship Type="http://schemas.openxmlformats.org/officeDocument/2006/relationships/notesMaster" Target="/ppt/notesMasters/notesMaster1.xml" Id="R7806d10b5a0d43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c26a2709834354" /><Relationship Type="http://schemas.openxmlformats.org/officeDocument/2006/relationships/notesMaster" Target="/ppt/notesMasters/notesMaster1.xml" Id="Ra78c58522dc4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6a877051444e52" /><Relationship Type="http://schemas.openxmlformats.org/officeDocument/2006/relationships/notesMaster" Target="/ppt/notesMasters/notesMaster1.xml" Id="Rbb7a2b1e3adf4a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33f88acaba4668" /><Relationship Type="http://schemas.openxmlformats.org/officeDocument/2006/relationships/notesMaster" Target="/ppt/notesMasters/notesMaster1.xml" Id="R0a3c58877a6c46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b505052909498b" /><Relationship Type="http://schemas.openxmlformats.org/officeDocument/2006/relationships/notesMaster" Target="/ppt/notesMasters/notesMaster1.xml" Id="Rb04ca1e67077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bf436700c4374" /><Relationship Type="http://schemas.openxmlformats.org/officeDocument/2006/relationships/notesMaster" Target="/ppt/notesMasters/notesMaster1.xml" Id="R226188b1963b46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d5656645804fb2" /><Relationship Type="http://schemas.openxmlformats.org/officeDocument/2006/relationships/notesMaster" Target="/ppt/notesMasters/notesMaster1.xml" Id="R39d788695c1441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5b7b197a944cf5" /><Relationship Type="http://schemas.openxmlformats.org/officeDocument/2006/relationships/notesMaster" Target="/ppt/notesMasters/notesMaster1.xml" Id="Rfd2193e3fd8f47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027d36a89547c9" /><Relationship Type="http://schemas.openxmlformats.org/officeDocument/2006/relationships/notesMaster" Target="/ppt/notesMasters/notesMaster1.xml" Id="R9d7e53e6214f45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5a3eb617134763" /><Relationship Type="http://schemas.openxmlformats.org/officeDocument/2006/relationships/notesMaster" Target="/ppt/notesMasters/notesMaster1.xml" Id="R5da8700d7e6547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ff17a8085a45b7" /><Relationship Type="http://schemas.openxmlformats.org/officeDocument/2006/relationships/notesMaster" Target="/ppt/notesMasters/notesMaster1.xml" Id="Ra8839e06753e49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e2cff228524a1a" /><Relationship Type="http://schemas.openxmlformats.org/officeDocument/2006/relationships/notesMaster" Target="/ppt/notesMasters/notesMaster1.xml" Id="R993d42453af34c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684c304e9242eb" /><Relationship Type="http://schemas.openxmlformats.org/officeDocument/2006/relationships/notesMaster" Target="/ppt/notesMasters/notesMaster1.xml" Id="R60f041996e16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c8eba7bdd4d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cb1294dac646ca" /><Relationship Type="http://schemas.openxmlformats.org/officeDocument/2006/relationships/slideLayout" Target="/ppt/slideLayouts/slideLayout2.xml" Id="R9c76c10eaeb5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76c10eaeb5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20165eb48740cd" /><Relationship Type="http://schemas.openxmlformats.org/officeDocument/2006/relationships/notesSlide" Target="/ppt/notesSlides/notesSlide1.xml" Id="Rfa4dc5a37a3144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e46d085dd485f" /><Relationship Type="http://schemas.openxmlformats.org/officeDocument/2006/relationships/notesSlide" Target="/ppt/notesSlides/notesSlide2.xml" Id="R56ead3ee59854b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516ae24c0426f" /><Relationship Type="http://schemas.openxmlformats.org/officeDocument/2006/relationships/notesSlide" Target="/ppt/notesSlides/notesSlide3.xml" Id="R1484ce8448b34d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be5d12e20b4001" /><Relationship Type="http://schemas.openxmlformats.org/officeDocument/2006/relationships/image" Target="/ppt/media/image.png" Id="R76fc390a19de4b65" /><Relationship Type="http://schemas.openxmlformats.org/officeDocument/2006/relationships/image" Target="/ppt/media/image.svg" Id="Rd88f5ccb82964f6a" /><Relationship Type="http://schemas.openxmlformats.org/officeDocument/2006/relationships/image" Target="/ppt/media/image2.png" Id="Rab8cd2ec5d8e4dff" /><Relationship Type="http://schemas.openxmlformats.org/officeDocument/2006/relationships/image" Target="/ppt/media/image2.svg" Id="R71b23c294b8e4aa6" /><Relationship Type="http://schemas.openxmlformats.org/officeDocument/2006/relationships/image" Target="/ppt/media/image3.png" Id="R73e9174ac4964126" /><Relationship Type="http://schemas.openxmlformats.org/officeDocument/2006/relationships/image" Target="/ppt/media/image3.svg" Id="Re52050dd2f454e96" /><Relationship Type="http://schemas.openxmlformats.org/officeDocument/2006/relationships/notesSlide" Target="/ppt/notesSlides/notesSlide4.xml" Id="Re6dddf2ea0d44f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72e12e0be34832" /><Relationship Type="http://schemas.openxmlformats.org/officeDocument/2006/relationships/image" Target="/ppt/media/image4.png" Id="R3d25511b148f48ec" /><Relationship Type="http://schemas.openxmlformats.org/officeDocument/2006/relationships/image" Target="/ppt/media/image4.svg" Id="R06bad42f981445e6" /><Relationship Type="http://schemas.openxmlformats.org/officeDocument/2006/relationships/image" Target="/ppt/media/image5.png" Id="R2663455cd08148c7" /><Relationship Type="http://schemas.openxmlformats.org/officeDocument/2006/relationships/image" Target="/ppt/media/image5.svg" Id="R9c2b5e90419a4748" /><Relationship Type="http://schemas.openxmlformats.org/officeDocument/2006/relationships/image" Target="/ppt/media/image6.png" Id="R6004564c0ea741e5" /><Relationship Type="http://schemas.openxmlformats.org/officeDocument/2006/relationships/image" Target="/ppt/media/image6.svg" Id="Re46b974aabe84ab3" /><Relationship Type="http://schemas.openxmlformats.org/officeDocument/2006/relationships/notesSlide" Target="/ppt/notesSlides/notesSlide5.xml" Id="R38a10558f12b43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84654c771f41c0" /><Relationship Type="http://schemas.openxmlformats.org/officeDocument/2006/relationships/image" Target="/ppt/media/image7.png" Id="R05615acef3a54c37" /><Relationship Type="http://schemas.openxmlformats.org/officeDocument/2006/relationships/image" Target="/ppt/media/image7.svg" Id="Re65e128060e147e8" /><Relationship Type="http://schemas.openxmlformats.org/officeDocument/2006/relationships/image" Target="/ppt/media/image8.png" Id="R953703f856774706" /><Relationship Type="http://schemas.openxmlformats.org/officeDocument/2006/relationships/image" Target="/ppt/media/image8.svg" Id="R6d60e791344c4ea4" /><Relationship Type="http://schemas.openxmlformats.org/officeDocument/2006/relationships/image" Target="/ppt/media/image9.png" Id="Ra3ed1bff600245ef" /><Relationship Type="http://schemas.openxmlformats.org/officeDocument/2006/relationships/image" Target="/ppt/media/image9.svg" Id="R04841d7654c8423f" /><Relationship Type="http://schemas.openxmlformats.org/officeDocument/2006/relationships/image" Target="/ppt/media/image10.png" Id="Rff0a31f14e80451a" /><Relationship Type="http://schemas.openxmlformats.org/officeDocument/2006/relationships/image" Target="/ppt/media/image10.svg" Id="R2f7e7a88172945ba" /><Relationship Type="http://schemas.openxmlformats.org/officeDocument/2006/relationships/image" Target="/ppt/media/image11.png" Id="R243c617457b745f4" /><Relationship Type="http://schemas.openxmlformats.org/officeDocument/2006/relationships/image" Target="/ppt/media/image11.svg" Id="Rc48de94c3ae54816" /><Relationship Type="http://schemas.openxmlformats.org/officeDocument/2006/relationships/notesSlide" Target="/ppt/notesSlides/notesSlide6.xml" Id="Rfa494b1fc19745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42ba39ec044797" /><Relationship Type="http://schemas.openxmlformats.org/officeDocument/2006/relationships/notesSlide" Target="/ppt/notesSlides/notesSlide7.xml" Id="R941452cd439a41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4e3b6dd7454628" /><Relationship Type="http://schemas.openxmlformats.org/officeDocument/2006/relationships/notesSlide" Target="/ppt/notesSlides/notesSlide8.xml" Id="Rf8f454fb009c4f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ad0f57e1e401e" /><Relationship Type="http://schemas.openxmlformats.org/officeDocument/2006/relationships/notesSlide" Target="/ppt/notesSlides/notesSlide9.xml" Id="R79a31a0998214e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3bf5bc235484b" /><Relationship Type="http://schemas.openxmlformats.org/officeDocument/2006/relationships/notesSlide" Target="/ppt/notesSlides/notesSlide10.xml" Id="Rdf3a2e83459948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2a74d08d884584" /><Relationship Type="http://schemas.openxmlformats.org/officeDocument/2006/relationships/image" Target="/ppt/media/image12.png" Id="R0d41b1fd00b54f6e" /><Relationship Type="http://schemas.openxmlformats.org/officeDocument/2006/relationships/notesSlide" Target="/ppt/notesSlides/notesSlide11.xml" Id="Re86d1b9d4f434c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c40ecdc02240fd" /><Relationship Type="http://schemas.openxmlformats.org/officeDocument/2006/relationships/image" Target="/ppt/media/image13.png" Id="Rb6bc5137bd6b4a29" /><Relationship Type="http://schemas.openxmlformats.org/officeDocument/2006/relationships/notesSlide" Target="/ppt/notesSlides/notesSlide12.xml" Id="Rd1ae314ccd4d4f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8eaf3866a54bd7" /><Relationship Type="http://schemas.openxmlformats.org/officeDocument/2006/relationships/notesSlide" Target="/ppt/notesSlides/notesSlide13.xml" Id="Ra08583211add40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85abe11344c2a" /><Relationship Type="http://schemas.openxmlformats.org/officeDocument/2006/relationships/notesSlide" Target="/ppt/notesSlides/notesSlide14.xml" Id="Rd860cf06e5e94f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b479d100b041bb" /><Relationship Type="http://schemas.openxmlformats.org/officeDocument/2006/relationships/notesSlide" Target="/ppt/notesSlides/notesSlide15.xml" Id="R5192c1ef5e8647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8521C-F133-4CB3-82B8-B48EC646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E5F49-A238-4E23-BEC5-8976E094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C1834-413F-4F9E-A69A-6BDDE0E6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B11A6-F22C-4AE0-9D8E-06361847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F3B02-2291-4DC9-BD62-991110D1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CLUSTER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D3CE0-57DC-4821-AAB6-89C5BFC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ADAEF-F792-4974-9DCC-D3FEB3BC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 한 장으로 인생을 기록하다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7FBAE-A7A3-4649-8111-A18B188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발표자명 / 소속 / 2026.05.19</a:t>
            </a:r>
          </a:p>
        </p:txBody>
      </p:sp>
    </p:spTree>
    <p:extLst>
      <p:ext uri="{BB962C8B-B14F-4D97-AF65-F5344CB8AC3E}">
        <p14:creationId xmlns:p14="http://schemas.microsoft.com/office/powerpoint/2010/main" val="4858557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AA0B6-3BBF-4466-87E9-0880A392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F0EF8-AB00-4B92-95BC-4DE87BB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69344-E429-479D-A573-BA3B6970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B445C-57E7-4607-B785-EF85378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9DF22-12A5-4355-943F-935CCB3D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PROBLEM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6FC97-B746-4410-AEF4-4AAF806B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사진은 폭증했지만, 기억은 구조화되지 않는다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3115E-EB7C-4C9A-AE6B-4EE775F5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3E6B4-5A13-4024-91FB-3B860807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1430">
            <a:solidFill>
              <a:srgbClr val="D4C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38375-C4E8-4375-9B04-616C50CC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000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0410A-B41A-4BEA-B07F-2B308A28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098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97.4%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93488-C843-4015-B814-0D4F71F8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스마트폰 보급률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4307C-A378-4A48-85EA-60F00EB0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10000"/>
            <a:ext cx="1752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B8CDB-5883-46BD-BEAB-CCA229F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1430">
            <a:solidFill>
              <a:srgbClr val="D4C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4038F-2B88-461A-ACAB-6C902BEF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2000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3CB1B-7139-44C2-9A0E-8E035E0B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1.7조+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2AB50-08A1-45DA-A8B4-816F001A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연간 사진 촬영 규모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F1B09-C97B-4EA6-AA85-1C41EA50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10000"/>
            <a:ext cx="1752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9780E-122B-4D0E-9E0F-20014BC1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1430">
            <a:solidFill>
              <a:srgbClr val="D4C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1FA4F-44EE-43C5-A6CD-43B71EF5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47875"/>
            <a:ext cx="2000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20E50-559F-4B3E-AD50-6104AA3D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98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수천 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D1015-603D-4D9A-879D-38959E5F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개인 갤러리 누적량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5E4FE-CC90-4EEA-9BB5-6BF34A06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1752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AE55F-ADA4-4BA9-81EE-F731B0B9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942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우리는 역사상 가장 많은 사진을 찍는 세대입니다.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55A6F-97F0-4969-BFE9-3DF0A956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그런데 그 사진들이 실제로 삶을 기록하고 있나요?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66FFD-AA41-4011-BEEC-F1344F58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11386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16983C-EDA2-4D30-A932-8BBF3F79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3E2D1-E2EC-4384-829D-CAFA5005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8F61F-1D9B-4F10-B53F-F5E86B0E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94FCC-1028-4C88-B158-27C23C02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DD3A3-1CCE-486F-A0EA-35AD9C0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MEMORY OVERLOAD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58306-A079-44D0-B408-0846A9B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사진은 있지만, 원하는 기억은 찾기 어렵다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ECADC-C74E-4FF0-B9FC-14E1AB5B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C4AD3-9B78-47D3-BEB3-02F4C3EA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104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C39EA-FB2D-4B44-8940-656C93C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952500" cy="561975"/>
          </a:xfrm>
          <a:prstGeom xmlns:a="http://schemas.openxmlformats.org/drawingml/2006/main" prst="roundRect">
            <a:avLst>
              <a:gd name="adj" fmla="val 13559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80592-4EE5-4C20-8928-25F7E336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0BE89-17A8-46CF-801C-02A21D98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2009.04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6A374-C14F-4861-B1F7-58E350C9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8763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4FC17-F31A-407B-844A-763605EB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57325"/>
            <a:ext cx="723900" cy="400050"/>
          </a:xfrm>
          <a:prstGeom xmlns:a="http://schemas.openxmlformats.org/drawingml/2006/main" prst="roundRect">
            <a:avLst>
              <a:gd name="adj" fmla="val 19048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06219-986C-4A5C-BD23-118B78F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1452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16E30-EEE0-41BB-B8D2-E91915C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5737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2014.11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1E8B4-1AEF-4828-AF11-FADB08C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43050"/>
            <a:ext cx="1123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CF706-0A74-4A6F-8D64-82AD2570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971550" cy="561975"/>
          </a:xfrm>
          <a:prstGeom xmlns:a="http://schemas.openxmlformats.org/drawingml/2006/main" prst="roundRect">
            <a:avLst>
              <a:gd name="adj" fmla="val 13559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F299D-940B-4197-854A-98CDC1C2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383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F5870-C049-4B93-AC2D-1B66C8AF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8122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2019.05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E96C4-CAFF-4434-B34A-930E7A95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81125"/>
            <a:ext cx="1066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BDA68-35BA-4233-A1AC-E820422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57325"/>
            <a:ext cx="914400" cy="542925"/>
          </a:xfrm>
          <a:prstGeom xmlns:a="http://schemas.openxmlformats.org/drawingml/2006/main" prst="roundRect">
            <a:avLst>
              <a:gd name="adj" fmla="val 14035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2B09B-B390-47BA-84C6-85BC2FE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294E2-06C1-491D-AC80-0976D52F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2023.09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43063-B470-47DD-A4A1-F7D1450A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524000"/>
            <a:ext cx="800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A8E31-A0D0-40E4-B022-332C0E74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600200"/>
            <a:ext cx="647700" cy="371475"/>
          </a:xfrm>
          <a:prstGeom xmlns:a="http://schemas.openxmlformats.org/drawingml/2006/main" prst="roundRect">
            <a:avLst>
              <a:gd name="adj" fmla="val 20513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90A1F-5605-4EE3-9F33-8B2ACBDD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2882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D10CA5-FF04-43D3-A339-6E2BDA74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9716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2024.01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0B0C7-89BE-4620-A156-5EFAD08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57300"/>
            <a:ext cx="1028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102D3-F524-4472-8B4C-CAF28E70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333500"/>
            <a:ext cx="876300" cy="504825"/>
          </a:xfrm>
          <a:prstGeom xmlns:a="http://schemas.openxmlformats.org/drawingml/2006/main" prst="roundRect">
            <a:avLst>
              <a:gd name="adj" fmla="val 15094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2AEC7-B398-4F00-AE39-A259C0B2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954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BB6DE-12F7-40DE-8657-87D3801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38325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2020.07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43D07-AC01-490C-9B98-AF3C32D0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990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81180-35ED-44E9-BBC2-EAF54FA8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838200" cy="466725"/>
          </a:xfrm>
          <a:prstGeom xmlns:a="http://schemas.openxmlformats.org/drawingml/2006/main" prst="roundRect">
            <a:avLst>
              <a:gd name="adj" fmla="val 16327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8E32F6-21AE-41F6-8674-CA840DB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E14276-BD7A-450C-9962-F43904FE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2011.08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616D3-6B56-471B-A90B-5427F1A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11811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BD2372-7389-4450-B45D-444AFE50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38700"/>
            <a:ext cx="1028700" cy="590550"/>
          </a:xfrm>
          <a:prstGeom xmlns:a="http://schemas.openxmlformats.org/drawingml/2006/main" prst="roundRect">
            <a:avLst>
              <a:gd name="adj" fmla="val 12903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505BCF-D072-4F34-A3AA-D5649605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4864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3CF6B8-B0EB-4129-8B9A-FAD9A1C4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292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2017.03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6DDC21-A537-4D32-A7DD-4705C485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933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6DD783-9606-4E16-B927-996CE7C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695825"/>
            <a:ext cx="781050" cy="428625"/>
          </a:xfrm>
          <a:prstGeom xmlns:a="http://schemas.openxmlformats.org/drawingml/2006/main" prst="roundRect">
            <a:avLst>
              <a:gd name="adj" fmla="val 17778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15FF04-A7B7-47ED-A0A7-59E04BFD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1816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3E3AD-FA2D-4CD6-ACA4-1A1DA916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244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2021.12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95892F-5BD7-4156-81D5-39471E30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12001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055861-30FA-41F6-A447-F935952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1047750" cy="590550"/>
          </a:xfrm>
          <a:prstGeom xmlns:a="http://schemas.openxmlformats.org/drawingml/2006/main" prst="roundRect">
            <a:avLst>
              <a:gd name="adj" fmla="val 12903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6703ED-71B0-42EC-9185-312031ED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959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144AA9-A0CA-4A35-910B-F0DE12BF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387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2022.06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72A5EE-7AC3-4EA6-AF34-25AB9E3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33875"/>
            <a:ext cx="1028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948209-8C70-4CF0-9E78-FB01E89D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10075"/>
            <a:ext cx="876300" cy="504825"/>
          </a:xfrm>
          <a:prstGeom xmlns:a="http://schemas.openxmlformats.org/drawingml/2006/main" prst="roundRect">
            <a:avLst>
              <a:gd name="adj" fmla="val 15094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75D451-7595-42FA-92D7-E33B3E13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205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C5862B-6F38-4969-954B-9348686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9149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2018.10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F3D9C2-1AED-412D-AABD-CA261B92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C1208A-CED0-4211-97B9-4CBEE2CD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514350" cy="238125"/>
          </a:xfrm>
          <a:prstGeom xmlns:a="http://schemas.openxmlformats.org/drawingml/2006/main" prst="roundRect">
            <a:avLst>
              <a:gd name="adj" fmla="val 32000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5A3978-1790-44DC-A30C-9B3B1D4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244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A19F04-3C01-465B-AC36-584F457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267325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2016.02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29DC3C-9292-478D-80B7-C7890AD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838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5FB6E4-E647-4F97-AAC1-DBDF97B4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504950"/>
            <a:ext cx="685800" cy="333375"/>
          </a:xfrm>
          <a:prstGeom xmlns:a="http://schemas.openxmlformats.org/drawingml/2006/main" prst="roundRect">
            <a:avLst>
              <a:gd name="adj" fmla="val 22857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66194D-9C01-4133-87C8-1B2F35F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8954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8A63CC-0329-4726-A640-38FA14C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838325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앨범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973078-1228-41E7-8E9F-4B104CBF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781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ED8F38-8959-4AA0-A22A-53F9080A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57325"/>
            <a:ext cx="628650" cy="295275"/>
          </a:xfrm>
          <a:prstGeom xmlns:a="http://schemas.openxmlformats.org/drawingml/2006/main" prst="roundRect">
            <a:avLst>
              <a:gd name="adj" fmla="val 25806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8FC311-4B81-4E95-9E25-914F3CEF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9AD212-7158-4A2D-A025-D7428A8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갤러리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72F167-C6E6-412F-955E-64549A9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876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E4E4F1-EF3F-4436-8006-21447E2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172075"/>
            <a:ext cx="723900" cy="333375"/>
          </a:xfrm>
          <a:prstGeom xmlns:a="http://schemas.openxmlformats.org/drawingml/2006/main" prst="roundRect">
            <a:avLst>
              <a:gd name="adj" fmla="val 22857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FC0CAF-449B-4056-9FDD-87396725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5626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5A6E86-3957-4DFF-939E-AE7537E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50545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2,438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703EA2-1C91-4E07-B60B-723DD4A0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91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7D0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BA58FA-7499-4ED0-9928-2D4032C9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29200"/>
            <a:ext cx="762000" cy="371475"/>
          </a:xfrm>
          <a:prstGeom xmlns:a="http://schemas.openxmlformats.org/drawingml/2006/main" prst="roundRect">
            <a:avLst>
              <a:gd name="adj" fmla="val 20513"/>
            </a:avLst>
          </a:prstGeom>
          <a:gradFill xmlns:a="http://schemas.openxmlformats.org/drawingml/2006/main">
            <a:gsLst>
              <a:gs pos="0">
                <a:srgbClr val="E9E3FF"/>
              </a:gs>
              <a:gs pos="60000">
                <a:srgbClr val="D8F3F0"/>
              </a:gs>
              <a:gs pos="100000">
                <a:srgbClr val="FFF7ED"/>
              </a:gs>
            </a:gsLst>
            <a:lin ang="8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3C3B85-8E46-4D30-B8A6-8E9B2814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5782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959841-6F45-42C0-9DA6-75556D4F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00675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기억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20B6D6-33FC-44B1-A2B0-78DD4D2D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9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08F749-BF95-41B4-8560-8A04FBF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62150"/>
            <a:ext cx="714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CEF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CF8594E-33EF-46CC-8B5F-60BE19C0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10년 전?   5년 전?   1년 전?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894733-9C1C-4A90-9B77-16BE2BA6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여러분은 작년 이맘때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A9433F-A330-40D8-ADEB-8CE48D23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누구와 어디 있었나요?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A7409F-BD57-4FAF-8AA5-A0F7DBC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24375"/>
            <a:ext cx="586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사진은 남아 있지만, 기억의 맥락은 흩어져 있습니다.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225BA45-75E6-4F99-BF77-5BB993A1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49919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7A6D3-A233-427E-AB92-1656499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9B4FF-8B16-44CB-909B-E2542739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C56A5-395A-409C-8CF6-17F3A596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ADC51-812D-4BC6-97AF-0FE6853F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B14DB-FA6E-4809-9CF2-907571A7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CURRENT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6BAF1-51CC-4A91-8FD8-505DAC9B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갤러리와 캘린더 사이에 기억의 맥락이 비어 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D10E9-E295-4BC7-97EC-8E8DCA8F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B2814-854C-448F-8376-0C1D3CDC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143250" cy="4095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2B9B9-801D-4FFE-A665-C494A067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4381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11430">
            <a:solidFill>
              <a:srgbClr val="CDB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B7379-076F-4819-AE75-02EA66C5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24000"/>
            <a:ext cx="3143250" cy="4095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c390a19de4b65">
            <a:extLst>
              <a:ext uri="{96DAC541-7B7A-43D3-8B79-37D633B846F1}">
                <asvg:svgBlip xmlns:asvg="http://schemas.microsoft.com/office/drawing/2016/SVG/main" r:embed="Rd88f5ccb82964f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179070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cd2ec5d8e4dff">
            <a:extLst>
              <a:ext uri="{96DAC541-7B7A-43D3-8B79-37D633B846F1}">
                <asvg:svgBlip xmlns:asvg="http://schemas.microsoft.com/office/drawing/2016/SVG/main" r:embed="R71b23c294b8e4a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86800" y="179070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9174ac4964126">
            <a:extLst>
              <a:ext uri="{96DAC541-7B7A-43D3-8B79-37D633B846F1}">
                <asvg:svgBlip xmlns:asvg="http://schemas.microsoft.com/office/drawing/2016/SVG/main" r:embed="Re52050dd2f454e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10250" y="1733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B15A1-4F1D-4085-AC8C-35B37DA3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갤러리 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C7541-1FB9-4514-B084-44B24F19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캘린더 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BD3E1-C8A0-4E00-ACD3-B6BBFDFA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rPr>
              <a:t>누락된 맥락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C1732-5D84-4A23-83AA-284DE24A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47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제공하는 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80022-1E68-4CAE-B1D0-9C6EE957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사진 + 날짜 기반 나열</a:t>
            </a:r>
          </a:p>
          <a:p xmlns:a="http://schemas.openxmlformats.org/drawingml/2006/main">
            <a:pPr algn="l">
              <a:def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시각 자료의 보관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3CE1B-8CBC-491B-A216-928CC4B8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247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rPr>
              <a:t>답하지 못하는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53982-47E4-4BF4-A4A3-62F641F4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767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작년 오늘 누구와 있었는지</a:t>
            </a:r>
          </a:p>
          <a:p xmlns:a="http://schemas.openxmlformats.org/drawingml/2006/main">
            <a:pPr algn="l">
              <a:def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그 장소가 어떤 활동이었는지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8FB8F-84C2-4AA8-B84B-D0C71208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2514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같은 날짜는 있지만</a:t>
            </a:r>
          </a:p>
          <a:p xmlns:a="http://schemas.openxmlformats.org/drawingml/2006/main">
            <a:pPr algn="ctr">
              <a:def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같은 기억으로</a:t>
            </a:r>
          </a:p>
          <a:p xmlns:a="http://schemas.openxmlformats.org/drawingml/2006/main">
            <a:pPr algn="ctr">
              <a:def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연결되지 않습니다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B7F61-D000-43D6-92AE-661B2CCF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76625"/>
            <a:ext cx="628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1AF30-B3E7-4C91-B1B2-1774C999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628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1953C-908E-4E49-BFAD-B01D699B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47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제공하는 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7DC59-9C31-4E6B-87AF-814F0B37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일정 + 날짜 기반 관리</a:t>
            </a:r>
          </a:p>
          <a:p xmlns:a="http://schemas.openxmlformats.org/drawingml/2006/main">
            <a:pPr algn="l">
              <a:def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계획의 보관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915FC-B3DE-4691-B326-639B6AB8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76675"/>
            <a:ext cx="247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rPr>
              <a:t>증명하지 못하는 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ED3B8-D994-40F1-AD25-000C593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그 일정이 실제로 일어났는지</a:t>
            </a:r>
          </a:p>
          <a:p xmlns:a="http://schemas.openxmlformats.org/drawingml/2006/main">
            <a:pPr algn="l">
              <a:def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누구와 어디서였는지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C2110-CFC8-4AC0-9D1E-7572901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84761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BACDE-4649-41F4-B983-E8BBF27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AD42E-4B6B-47CB-A254-F7851BEA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BA536-C5BA-4076-A9F1-6A53EF6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85249-F964-4D19-8FE9-A088B27A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878B0-261B-481D-A101-2D80B3E3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CLUSTER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866AD-CC08-4CBD-81E4-FCAFA2AC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 한 장을 관계·장소·시간의 기록 자산으로 전환한다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FE309-BB90-4E97-B302-EF40D42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68B19-9CDC-4A62-A59C-12933677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B09A6-8F06-44F0-928B-4B8D36C3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85925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CLUSTER는 사진 한 장으로 인간관계와 장소 방문 이력을 자동 구조화하는 인생 인프라입니다.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F49C1-24BF-4595-81CB-D7FC8A71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8191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32A77-EA4C-4CD0-B310-1809F0A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PHOTO  →  EXIF / GPS / TIME / FACE  →  PEOPLE / PLACE / CALENDAR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D089F-5299-499B-889B-B8E0666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5511b148f48ec">
            <a:extLst>
              <a:ext uri="{96DAC541-7B7A-43D3-8B79-37D633B846F1}">
                <asvg:svgBlip xmlns:asvg="http://schemas.microsoft.com/office/drawing/2016/SVG/main" r:embed="R06bad42f981445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4591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101E4-4913-435E-A912-88C13EF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인생 인프라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79019-D69D-45E7-B856-A3A91A07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휘발되는 기억을 체계적 자산으로 전환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BC855-BF01-4643-AA5B-6A1DE8B5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38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3455cd08148c7">
            <a:extLst>
              <a:ext uri="{96DAC541-7B7A-43D3-8B79-37D633B846F1}">
                <asvg:svgBlip xmlns:asvg="http://schemas.microsoft.com/office/drawing/2016/SVG/main" r:embed="R9c2b5e90419a47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67250" y="4591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08710-E32F-4598-9726-A52F0704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767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기록의 진실성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B7B2C-73B7-4F07-9EE8-9FFBC6B3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768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사진·GPS·촬영 시간이 일치할 때만 인정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40171-F2E4-4DBF-A433-4E4A2F4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38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4564c0ea741e5">
            <a:extLst>
              <a:ext uri="{96DAC541-7B7A-43D3-8B79-37D633B846F1}">
                <asvg:svgBlip xmlns:asvg="http://schemas.microsoft.com/office/drawing/2016/SVG/main" r:embed="Re46b974aabe84a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591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75892-AAB1-4F0E-A688-122363E7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767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자아 집중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6F92D-9B41-479C-AAE1-882CFFA8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768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내가 에너지를 쏟는 관계와 장소를 시각화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C0E73-BCF5-4ECB-94EB-636C3095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80726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2DEC02-294F-4B9F-959A-593E613C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934A0-2859-4E7F-BA2F-9E997FBE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DA7DD-631C-4F34-A33D-47001628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E191F-DFDC-4970-966E-82A91286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E053D-DC54-40CF-951E-B6480CB3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92BE6-68F2-4640-B9D5-3E0EC563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5개 레이어가 사진 1장을 활동 기록으로 변환한다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BFC0A-943C-425D-8F4A-3A034AD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33F86-87B2-47E9-B7C8-9479734D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05000" cy="2333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15acef3a54c37">
            <a:extLst>
              <a:ext uri="{96DAC541-7B7A-43D3-8B79-37D633B846F1}">
                <asvg:svgBlip xmlns:asvg="http://schemas.microsoft.com/office/drawing/2016/SVG/main" r:embed="Re65e128060e147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90650" y="21145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D7427-066C-4CA6-98E3-7AC95066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사용자 브라우저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0D2D5-183B-472B-81B9-855212D9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사진 업로드 / 결과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F5D02-1CE2-479E-992A-83CD2681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14BF1-1D30-4058-A703-E5BC04C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09750"/>
            <a:ext cx="1905000" cy="2333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703f856774706">
            <a:extLst>
              <a:ext uri="{96DAC541-7B7A-43D3-8B79-37D633B846F1}">
                <asvg:svgBlip xmlns:asvg="http://schemas.microsoft.com/office/drawing/2016/SVG/main" r:embed="R6d60e791344c4e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57600" y="21145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9A4CE-0EAE-4C15-97F0-19ECDA13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Vercel 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85A8A-50AA-474F-8207-9269D15D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React UI / 사용자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639D9-942F-4AD6-911A-2A2A43E4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E125E-9AAC-4984-B088-5A483524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09750"/>
            <a:ext cx="1905000" cy="2333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11430">
            <a:solidFill>
              <a:srgbClr val="241A4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d1bff600245ef">
            <a:extLst>
              <a:ext uri="{96DAC541-7B7A-43D3-8B79-37D633B846F1}">
                <asvg:svgBlip xmlns:asvg="http://schemas.microsoft.com/office/drawing/2016/SVG/main" r:embed="R04841d7654c842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550" y="21145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2BFCF-09C4-4478-9F98-512611F1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575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Railway 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51ED1-F062-4817-A5DE-09FA7E20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0995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EXIF·매칭·상태 전환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DC1FC-0D7B-4AF4-9D11-DEC8AFE4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95F4D-2133-4784-AC14-E7857709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1905000" cy="2333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a31f14e80451a">
            <a:extLst>
              <a:ext uri="{96DAC541-7B7A-43D3-8B79-37D633B846F1}">
                <asvg:svgBlip xmlns:asvg="http://schemas.microsoft.com/office/drawing/2016/SVG/main" r:embed="R2f7e7a88172945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0" y="21145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54159-5EDF-46CB-BF86-D7134144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Data · AI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EF4D5-F08C-4964-B9D8-6EA1DB5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DB / Face Embedding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DADA5-9FBD-4316-874D-4E7AD9D5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55B350-4FAD-400C-ACBC-C21BBA87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1905000" cy="2333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c617457b745f4">
            <a:extLst>
              <a:ext uri="{96DAC541-7B7A-43D3-8B79-37D633B846F1}">
                <asvg:svgBlip xmlns:asvg="http://schemas.microsoft.com/office/drawing/2016/SVG/main" r:embed="Rc48de94c3ae548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58450" y="21145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6FAA3C-6978-4F79-B9CC-EC26290B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External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2C468F-9023-464B-B998-B580F1E5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Map / Auth / Swagger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003092-704A-4193-89E3-4C7316DB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D6158A-0D91-446D-91ED-4EB3E990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 업로드 → EXIF에서 GPS·촬영 시간 추출 → 얼굴 임베딩 식별 → ActivityLog 자동 생성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36921A-3499-4ED5-B8F2-B28C998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2853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2FE08-9783-4E62-B6D3-F92096B5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081FE-3AE1-43CC-B8D9-6D3BCEF4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143E8-F16F-4658-80FD-B9DD96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09793-B420-4013-B88D-6F9B200E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01843-7C64-4EDD-8C8C-96DCAE8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CORE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7C32C-AE44-493B-9344-4A61385A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 1장이 기록이 되는 6단계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3B0C1-C3D9-4207-851C-38DE9B38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23FD3-F48E-44C0-A89C-A44B9625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B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3DB7E-3AA1-4A39-ADD3-9486EDF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95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E3A29-3CE3-4D48-8BF0-CC3B0910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933575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56773-FD08-4EA5-93A6-A13FFE2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669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EXIF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21667-BF1E-4395-BDE6-49109101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43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GPS·촬영 날짜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13294-7FF0-4843-A499-7516394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86000"/>
            <a:ext cx="428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5115D-5D4A-414C-8CA0-22FE60FB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049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4288">
            <a:solidFill>
              <a:srgbClr val="CDB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C06A9-7A3C-4225-8F8C-B5C05EDD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95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7B870-E576-4D41-A4F2-2A4D612C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33575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E0D6F-3753-4525-A108-D5C08F9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669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인물 임베딩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9E3EA-0BAB-4D2A-9E46-C25A9B51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343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등록 인물 일괄 전송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7F342-9B0A-4625-9483-7D0FFB59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428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561C3-4453-475A-9C89-F9A331A7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049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B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572C4-E478-4A3E-9A57-C4D4F8B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9CA72-6CE3-4A9B-8960-064677EA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33575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E0F82-F6AF-4A63-8C53-0E2EBE4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AI 분류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BADAF-94CD-4612-A69B-2624F29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self / matched / unmatched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23B62-9FA5-48C9-8CD0-96B185FA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4288">
            <a:solidFill>
              <a:srgbClr val="CDB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1612C-A627-4BD3-9886-B2D21CDE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433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BD52A-1043-4C5A-A9D2-EA2E7447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98145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11FB9-3DDB-4BED-9217-553D1D8A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1477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공간 클러스터링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4CC7B-922D-4339-A162-4C51CE30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같은 날짜·200m 이내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7762F3-E604-4585-B096-6903AEE8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33875"/>
            <a:ext cx="428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FB33E-086B-4A56-8FAF-174DEA3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B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89537-7767-42FF-9B79-9D8AD1F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433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CCB349-3998-4FD5-9A47-EFECB0D6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B9DC1-9CBD-4734-AC3A-05D5DBB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91477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일정 매칭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3ED8F-F63F-4DAC-B9ED-F14DB6A2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9102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exact / date_only / none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BD03AF-946B-4C33-94FC-10E079D0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33875"/>
            <a:ext cx="428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D8D471-E3AD-4181-A4A9-CBC1C12E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4288">
            <a:solidFill>
              <a:srgbClr val="CDB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BA19FD-5120-4F71-A747-EA43EF75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433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5F09C7-D9EF-48E0-BC6C-FD4E1836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8145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AF7F7E-47E6-459F-98C7-656CDB8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1477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사용자 확정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8F9343-2597-43D2-8062-8908807D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확인 후에만 DB 저장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69A864-946F-4842-AAFE-87B61D9E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81675"/>
            <a:ext cx="8001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5CD0FF-F000-4CEB-9E8F-A93D3FD4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15025"/>
            <a:ext cx="771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사용자가 한 일은 사진 업로드 하나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0FEA52-9344-4083-B8F2-21039697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001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4A9EB-E8AD-43CA-9E88-C4A6530D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5D075-F6A4-4268-9B0D-D4128448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7047C-15B7-49FD-A639-694C0925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36C61-368D-4840-8555-F2A67218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42605-6286-446E-9A46-271B733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DESIGN DECISIONS 01-02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07089-DA9B-41E4-B1BB-70E2DF73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기록의 진실성을 어떻게 코드로 구현했나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F03A5-E6A6-4C9C-8678-93D1DEAA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72AED-B9E9-4736-9C7E-F38D594F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0429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질문: 이 기록이 진짜인가?  →  기준은 사용자가 아니라 시스템이 먼저 잡는다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B9856-7E8B-4C50-A735-45E81A45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928F3-311C-43CC-A182-107AAC43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76300" cy="3714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07A41-2127-42A5-8452-0E233DF2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647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C4043-F2FA-4B8D-9D0B-AD7C653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Haversine 클러스터링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A3804-6436-49C8-B1C8-CD24D175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908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4E381-FDBA-4E40-9730-EB1D775C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574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38031-2F9B-47A8-8688-B803B971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193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같은 장소에서 10장을 찍어도 방문은 한 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7E564-63F8-45E4-B44E-5FB67AE8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014BC-9B93-496B-AF57-783861E0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146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DCC66-4C1B-4B71-A5D2-44CAE960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765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구면 기하학 거리 계산 + 같은 날짜 + 200m 이내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DED38-7C8E-462D-8B51-C02FB9C9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D2CFE-29AE-4379-8969-83CB0368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71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C32A4-1A62-4706-ABE2-BE3E82FF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337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동일 방문의 중복 기록을 방지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A3320-CB79-4DCF-9339-57CB2545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6FB57-4AB3-4D33-B108-1D2787D7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876300" cy="3714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547A7-8635-49C3-8CC0-AA5D7384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647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F4187-C553-41B6-95F3-7E32D6C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3단계 매칭 우선순위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771CF-CA79-47C9-ADC5-3C6069B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41EFD-539E-4AB4-922B-DDF075F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574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8A3B1D-D6E9-4D74-9ED4-AABC5A25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계획된 일정인지 즉흥 방문인지 서버가 판단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772E44-F534-44C3-8066-ED3A932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F90F4B-F3AE-4174-AB2C-1B64C05D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146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51451-4A29-4BCB-AEAC-E3CFB785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765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exact → date_only → none 순서로 판정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09CF1-7DEC-404A-A7D1-EDC89AE3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052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B74014-A37C-4936-8A74-3455988F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71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CFF127-16E3-45F8-937D-A4F977F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337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사용자 개입은 마지막에만 요청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1A50CE-9EF3-4210-B37C-3BCB8ABE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33767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D080D0-2BFB-4525-824D-54CE00E4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58C36-191F-4EBE-8260-63EF06C2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D07F5-FFB0-47A5-8FBE-BE024BBA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401CE-2E40-403F-A722-18633A5B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7A551-6F15-4196-ADE7-433ECF47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DESIGN DECISIONS 03-04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AEF26-8AC4-48BC-8C42-9D7AC4CB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자동화가 기록을 왜곡하지 않도록 막는 장치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83177-C5A2-4CBD-91E1-4EB82813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A27AB-4BA1-484A-9911-D8CC0323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0429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원칙: 기록은 수정되는 것이 아니라 쌓이는 것이어야 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53F66-6D76-4C82-B7BC-03ED70F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69A13-84ED-47ED-AEE1-ADC0158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76300" cy="3714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EB00C-4025-4CAB-B0F4-F349F8B2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647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0713B-4BC0-441D-9900-0D04A8F0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단방향 State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E6A97-7058-4F5B-A94D-850095CB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908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03CB6-18AD-456B-BDAC-2D03368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574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B81D6-3137-4CE1-91D5-0CC19641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193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일정 상태가 임의로 되돌아가면 기록 신뢰가 깨짐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2CCCE-3353-41B1-BF40-6B91D26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D168E-699F-4289-8941-E379C9A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146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E431D-FA8F-4532-9428-B7D3A6B8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765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Planned → Completed만 허용, 미래 완료 차단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5847B-EB44-4A31-94C0-54872F2E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676B5-0709-419D-B953-C2E3C705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71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408EA-8474-4D78-AC48-92F935D7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337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서버가 상태의 Source of Truth를 전담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667C2-E967-4865-96BA-9E0732A3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B33F3-E19F-4DDF-9EE7-649A2DA9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876300" cy="3714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19A9C-15E3-4107-A4F0-C0C2C993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647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41D5D-299A-40C7-8E50-EFAFE8E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중복 카운트 방지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FFF3E-3BF0-4DB2-9C1C-9328B01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9E82E-CA6C-403B-B5DE-F3F69D89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574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05612D-F1FE-4CE2-9BBD-00234AD7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 10장이 만남 10회로 계산되면 관계 밀도 왜곡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6917F-AB2D-434B-AB75-0B2343FE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75CE4B-FE1A-47F8-8C35-BE50AE7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146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019E8E-F2AD-46D3-A56E-901A06C0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765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동일 날짜 내 사람·장소를 집합 연산으로 제거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53595-B68F-43C1-9F31-E89B204F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052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F98F2-63C3-4331-AB9A-5C9BD610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71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72169-64C4-41EE-99B9-BE635D08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33775"/>
            <a:ext cx="2876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관계와 방문 빈도를 더 정확하게 반영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08B9B7-BB44-4FC0-8C3A-0FB1A11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12461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11F56-C7C4-42A8-8E01-B7C796F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8FC6F-D43D-4233-88F5-86C4806F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89567-7C95-486B-B56F-CDC179A0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6A692-D501-486E-AC93-DFAF2FA1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401BA-A37B-4C55-BBF6-59BE802C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IMPLEMENTATION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D0500-DD26-42C4-9979-D677217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실배포 상태의 5개 도메인과 재현 가능한 API 문서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9ADE9-5065-46CF-97FC-692E344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911EC-27D9-4924-913E-B4B62AA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76375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79578-442A-4F05-A3D0-13AFF779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Vercel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E0D26-B593-4F2B-8E6E-4F0C52DF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19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4807E-5457-4A1A-988D-7DA9577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11430">
            <a:solidFill>
              <a:srgbClr val="241A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517F1-A3BF-45D3-AD45-8142B7E0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827E0-AC4F-4625-AEDE-AB3B93F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C2410-C4D7-4863-AF2E-48BEDC56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76375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BDA0F-3478-4823-8866-D508009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HuggingFace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21786-2C25-4099-B957-3EC42FB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AI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8925D-4954-48DC-8FFD-D90CCFC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952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6DF14-B9B5-48B5-82FB-F494D68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609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71774-EDB7-40C1-A67F-34DB4CCC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JWT 인증</a:t>
            </a:r>
          </a:p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로그인·회원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63F59-6943-442F-949D-107B2C4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95625"/>
            <a:ext cx="1952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18485-D4EE-4434-BEA1-30D636A2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1609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PEOPLE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2E778-8A13-4541-A0FF-2BBE33C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5287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인물 등록</a:t>
            </a:r>
          </a:p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관계 상태 시각화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C92C6-A552-4092-8EAE-9CADDC6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95625"/>
            <a:ext cx="1952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4F660-9DC7-4AC1-A6D8-0827B68E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09950"/>
            <a:ext cx="1609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PLACE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DC4E0-3F5B-400B-ACA4-E10D6605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5287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방문 장소</a:t>
            </a:r>
          </a:p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횟수 기반 지도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5A804-70A0-410F-BE70-66B240F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95625"/>
            <a:ext cx="1952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17C966-7C12-4FAC-B9A6-F96CA8C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09950"/>
            <a:ext cx="1609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SCHEDULE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6EF959-B71A-4E58-B185-56EB0B1B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5287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일정 매칭</a:t>
            </a:r>
          </a:p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Completed 전환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D54C9-E3A0-428E-914D-10B0A015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95625"/>
            <a:ext cx="1952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1430">
            <a:solidFill>
              <a:srgbClr val="7C5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B5CC19-7994-41F4-9B39-76D0AF3D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9950"/>
            <a:ext cx="1609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ACTIVITY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1B6AE-51AB-4181-BE9A-C6549C15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5287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사진 분석 결과</a:t>
            </a:r>
          </a:p>
          <a:p xmlns:a="http://schemas.openxmlformats.org/drawingml/2006/main">
            <a:pPr algn="ctr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활동 로그 생성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CB165-60E8-40CC-AA25-FA350F05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Swagger 문서화 완료: 5개 도메인 · 전체 엔드포인트 · JWT 인증 명세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7944D-227D-4132-BE00-58FD756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36864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95C42-F0A2-4FB2-99AC-21BE2D5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2AEB2-8CFD-4FE5-B966-E445392B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3020-1AF9-4F17-991C-466D9717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EC987-971E-4B4A-A3DC-3B4BDB6F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7D50-D2E8-45A1-99E3-33C2597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1CF0E-9254-427F-91E8-7F3E33D0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사용자가 한 일은 사진 업로드 하나였습니다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74DA3-9031-44B5-99A5-D76A710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75FD0-09AF-4A95-92BC-2ABDE95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58102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1b1fd00b54f6e"/>
          <a:stretch xmlns:a="http://schemas.openxmlformats.org/drawingml/2006/main"/>
        </p:blipFill>
        <p:spPr>
          <a:xfrm xmlns:a="http://schemas.openxmlformats.org/drawingml/2006/main">
            <a:off x="3067050" y="1907304"/>
            <a:ext cx="1762125" cy="261476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21A0D-D6D8-4789-B0AF-89663DF7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CB427-770B-42F9-87A7-11C819E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908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0CC47-71C1-4B4E-AB9F-D9A27067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5F63D-CFE3-49D9-8119-FF7E5961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0:00 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A18BF-5B01-46B2-A013-504B1CFC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76475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5BC6-C26F-4FEE-BF3D-8CB1C63E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0:10 People 관계 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FBAB0-4A5C-4C0C-832D-65889238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81325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11430">
            <a:solidFill>
              <a:srgbClr val="7C5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0416B-C50A-4FAF-95F5-7880941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0:25 사진 업로드·분석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313FB-D983-4510-9014-63AD2F5B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86175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F78ED-217E-49B1-B7D4-D20B2C7D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0:50 Calendar 완료 전환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14569-DF61-483F-A9A9-17A140CE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B3A6B-5C97-4D83-A4AE-D2E2ADB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1:10 Map 방문 시각화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71A5C-6442-4E70-92C2-097C1874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007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사진 업로드 → People 기록 → Calendar Completed → Map 방문 시각화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96CB8-BD5C-48B8-86BB-C7A96495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03875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A709B-C64C-4621-BF20-D176EB8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E0CAF-3C58-4320-8210-C526EE6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0E622-9040-4FC4-8AB6-21870B1B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93A61-5EBE-4382-8DF3-EC22773B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C2C9A-CED2-47D8-8EC3-157DAE0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TRY CLUSTER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DFED6-DE90-497F-9A2A-DCB9D8B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QR 코드로 실제 배포 서비스에 접속할 수 있습니다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F2A9A-A791-49C6-8D2E-F0F52B4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AC609-1875-4784-83D9-EE6C5832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4191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EF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c5137bd6b4a29"/>
          <a:stretch xmlns:a="http://schemas.openxmlformats.org/drawingml/2006/main"/>
        </p:blipFill>
        <p:spPr>
          <a:xfrm xmlns:a="http://schemas.openxmlformats.org/drawingml/2006/main">
            <a:off x="4441658" y="1809750"/>
            <a:ext cx="3308684" cy="3333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D2C60-B055-4896-B823-7F25437D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3405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지금 바로 접속해보세요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4F2D3-5AC5-4AA3-A279-811A4B8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CLUSTER live deployment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C91C4-5B61-4D28-A6A9-B9E961B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14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FC18F-F58C-4443-B7B3-0E188CCF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09B42-D654-444E-A352-2DFB5CB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4B8C-380E-4B53-8581-C818601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F60CD-5D4B-4BB2-9DCB-BE33AF9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F63EF-90BF-45A5-B6CD-2CBCBD3A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4340F-19B5-4BE2-A1C6-37134EB5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기획 의도와 실제 사용 조건 사이의 세 가지 괴리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E5FEB-B1F3-49BD-92EA-BD00D14F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2755A-AA04-4F3C-AC1F-3E85DED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E7D59-E87C-49E8-8422-9E506905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52650"/>
            <a:ext cx="857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7B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A1F97-19A9-4A80-AA72-13E3FF5B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95550"/>
            <a:ext cx="6667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A9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CF417-14F2-4940-AE2D-D722EC71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981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CE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8584B-ADD3-48C5-A029-0C0E333A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890D2-DC10-4F65-9B3A-C7EB0252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86075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E5DBF-4EB7-4412-986C-025F5DF3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얼굴 임베딩 정확도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9A5B4-4626-472D-9E6D-2266F19D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3571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의도: 물적 증거 기반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51532-986A-429B-A23F-5CF19165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4322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rPr>
              <a:t>현실: threshold를 실사용자 사진으로 검증하지 못함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B2DC7-574B-4CBE-8250-CB64F23D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904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5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A8DF3-A6E2-40AE-9A28-712F12B6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C8338-C167-4877-898E-B9B15E1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00525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1F6B6-B5DC-4EC4-8350-715A9425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자동화의 전제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446FB-23B9-477E-A8E1-1B7629E3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3571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의도: 사진 업로드 하나로 자동화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855EA-8A8F-4EC9-BF54-F065F477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rPr>
              <a:t>현실: People·Place·Schedule 선등록이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394C3-B143-40CB-80AA-0B666EB5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8286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CE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5E39A-6FC2-48FB-B5E2-2D4678FB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435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3513D-EAD7-4CFC-8E44-651203F4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14975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E2053-1F9C-4720-9AB1-56C98F3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EXIF 의존성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CB7B90-322E-4E3D-A0E3-CE65C04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3571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의도: GPS·촬영 시간으로 진실성 확보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CCF2D-0035-4E7E-94A9-31E7F4E0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21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F1239"/>
                </a:solidFill>
                <a:latin typeface="Apple SD Gothic Neo"/>
                <a:ea typeface="Apple SD Gothic Neo"/>
                <a:cs typeface="Apple SD Gothic Neo"/>
              </a:rPr>
              <a:t>현실: 메신저·SNS 사진은 EXIF가 없는 경우가 많음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B48C28-FC33-4DB6-9B83-574DA9B5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017333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BF726-61AE-43EB-801B-753E07A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8FC83-0357-4BB9-B35E-F5F8B162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036B4-4E49-4FD5-A8F8-CE46CA13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D2720-3CBA-42F0-B3DE-3922B6D8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B1124-DD14-4C01-8A92-84485D96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6D25F-7B35-4004-8272-D0A5C179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한계와 향후계획을 1:1로 연결한다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7BC25-3892-4934-999E-830789DF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B0839-D135-4D9D-ACC4-ACACA00B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A91DB-7EA0-4F99-AE10-2B7A9BE3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얼굴 인식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C2AB3-5B21-4D50-9F74-42FFEEE2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threshold 튜닝 + 사용자 수정 피드백 루프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E050A-34E5-4796-A776-36BED17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중기: 검증된 상용 Face API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5ECA4-028D-4092-BE94-EA27CFC0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E7FF"/>
          </a:solidFill>
          <a:ln xmlns:a="http://schemas.openxmlformats.org/drawingml/2006/main" w="9525">
            <a:solidFill>
              <a:srgbClr val="D8CE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1CD85-25EF-48C1-9D98-6A20117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자동화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1915E-F545-450C-997E-4D53A7DC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860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연락처·사진·캘린더 최초 1회 연동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D4C06-9BCF-44FC-B168-C551E444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선등록 없이 People·Place·Schedule 자동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155E4-B05D-46AF-8ED3-031B708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629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9A612-3EB9-4F06-B3A3-E702D14D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EXIF 없는 사진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892FB-A187-4AAA-A384-9F395759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최소 수동 입력 UI 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F0643-2A2B-43C0-839F-5A98BCF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25B71"/>
                </a:solidFill>
                <a:latin typeface="Apple SD Gothic Neo"/>
                <a:ea typeface="Apple SD Gothic Neo"/>
                <a:cs typeface="Apple SD Gothic Neo"/>
              </a:rPr>
              <a:t>날짜만 입력해도 일정 매칭 가능하도록 분기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D3293-180C-4B9A-B155-1CC0F221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4830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41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144E5-A409-4023-8004-053F6092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진짜 자동화는 사용자가 이미 쓰고 있는 데이터에서 시작해야 합니다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BB6A6-7955-48DD-8C26-A3464BB2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496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325702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AA5027-DDC5-4A84-9BDF-ADE8589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BF0A8-B4B7-4665-9750-41D6A227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AFF"/>
              </a:gs>
              <a:gs pos="52000">
                <a:srgbClr val="F4F0FF"/>
              </a:gs>
              <a:gs pos="100000">
                <a:srgbClr val="F7F5FC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21EC5-A104-4FCA-8B87-6AA5453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DE1A8-416C-449A-BB6E-00212670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2333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0B5BD-7731-49FE-86B5-1E9D558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870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CLUSTER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F1FF8-87EB-48AC-8008-ACA6C83F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1A0F2-3EF4-4B8E-8CCD-9A74834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717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People — 누구와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29D49-95BF-46E2-B255-DFDCC550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Place — 어디서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C4F95-5E46-42A6-86A4-0FD79D6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1421"/>
                </a:solidFill>
                <a:latin typeface="Apple SD Gothic Neo"/>
                <a:ea typeface="Apple SD Gothic Neo"/>
                <a:cs typeface="Apple SD Gothic Neo"/>
              </a:rPr>
              <a:t>Calendar — 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6B8B8-FC5A-4406-9DD0-422AA05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B2FD6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36233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2026-05-18T15:14:55.4350000Z</dcterms:created>
  <dcterms:modified xsi:type="dcterms:W3CDTF">2026-05-18T15:14:55.4350000Z</dcterms:modified>
</coreProperties>
</file>