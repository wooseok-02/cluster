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e96d3afa5344672" /><Relationship Type="http://schemas.openxmlformats.org/officeDocument/2006/relationships/extended-properties" Target="/docProps/app.xml" Id="R05be9d24ede44dfc" /><Relationship Type="http://schemas.openxmlformats.org/officeDocument/2006/relationships/officeDocument" Target="/ppt/presentation.xml" Id="R4a4fa2e52b594d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6496040c8f4286"/>
  </p:sldMasterIdLst>
  <p:notesMasterIdLst>
    <p:notesMasterId xmlns:r="http://schemas.openxmlformats.org/officeDocument/2006/relationships" r:id="R344e48c35ced4cf3"/>
  </p:notesMasterIdLst>
  <p:sldIdLst>
    <p:sldId xmlns:r="http://schemas.openxmlformats.org/officeDocument/2006/relationships" id="256" r:id="R7d293a3494874c47"/>
    <p:sldId xmlns:r="http://schemas.openxmlformats.org/officeDocument/2006/relationships" id="257" r:id="R6fbff06bbfdd44a7"/>
    <p:sldId xmlns:r="http://schemas.openxmlformats.org/officeDocument/2006/relationships" id="258" r:id="R133f69e6c29f4be7"/>
    <p:sldId xmlns:r="http://schemas.openxmlformats.org/officeDocument/2006/relationships" id="259" r:id="R57409b650cb74e4f"/>
    <p:sldId xmlns:r="http://schemas.openxmlformats.org/officeDocument/2006/relationships" id="260" r:id="R982c18e3006149d9"/>
    <p:sldId xmlns:r="http://schemas.openxmlformats.org/officeDocument/2006/relationships" id="261" r:id="Rd9ae8bd03fee4703"/>
    <p:sldId xmlns:r="http://schemas.openxmlformats.org/officeDocument/2006/relationships" id="262" r:id="Rd4fec0a2c4ac42d6"/>
    <p:sldId xmlns:r="http://schemas.openxmlformats.org/officeDocument/2006/relationships" id="263" r:id="Ra70df3b1bd5c4706"/>
    <p:sldId xmlns:r="http://schemas.openxmlformats.org/officeDocument/2006/relationships" id="264" r:id="R7e318514f6184679"/>
    <p:sldId xmlns:r="http://schemas.openxmlformats.org/officeDocument/2006/relationships" id="265" r:id="R8c6914ab51a44be3"/>
    <p:sldId xmlns:r="http://schemas.openxmlformats.org/officeDocument/2006/relationships" id="266" r:id="Re303fdd885274214"/>
    <p:sldId xmlns:r="http://schemas.openxmlformats.org/officeDocument/2006/relationships" id="267" r:id="Ra6dd8d6988b44e33"/>
    <p:sldId xmlns:r="http://schemas.openxmlformats.org/officeDocument/2006/relationships" id="268" r:id="R41d043ab24224d60"/>
    <p:sldId xmlns:r="http://schemas.openxmlformats.org/officeDocument/2006/relationships" id="269" r:id="Rdba053c07cdf4256"/>
    <p:sldId xmlns:r="http://schemas.openxmlformats.org/officeDocument/2006/relationships" id="270" r:id="R9f334ebb8a1745a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6496040c8f4286" /><Relationship Type="http://schemas.openxmlformats.org/officeDocument/2006/relationships/theme" Target="/ppt/theme/theme1.xml" Id="R7de9e68b01fa48be" /><Relationship Type="http://schemas.openxmlformats.org/officeDocument/2006/relationships/notesMaster" Target="/ppt/notesMasters/notesMaster1.xml" Id="R344e48c35ced4cf3" /><Relationship Type="http://schemas.openxmlformats.org/officeDocument/2006/relationships/presProps" Target="/ppt/presProps.xml" Id="Rb591ec0db95b4e8a" /><Relationship Type="http://schemas.openxmlformats.org/officeDocument/2006/relationships/viewProps" Target="/ppt/viewProps.xml" Id="Rdede0a299b5844d4" /><Relationship Type="http://schemas.openxmlformats.org/officeDocument/2006/relationships/tableStyles" Target="/ppt/tableStyles.xml" Id="R70132ba83c134ffb" /><Relationship Type="http://schemas.openxmlformats.org/officeDocument/2006/relationships/slide" Target="/ppt/slides/slide1.xml" Id="R7d293a3494874c47" /><Relationship Type="http://schemas.openxmlformats.org/officeDocument/2006/relationships/slide" Target="/ppt/slides/slide2.xml" Id="R6fbff06bbfdd44a7" /><Relationship Type="http://schemas.openxmlformats.org/officeDocument/2006/relationships/slide" Target="/ppt/slides/slide3.xml" Id="R133f69e6c29f4be7" /><Relationship Type="http://schemas.openxmlformats.org/officeDocument/2006/relationships/slide" Target="/ppt/slides/slide4.xml" Id="R57409b650cb74e4f" /><Relationship Type="http://schemas.openxmlformats.org/officeDocument/2006/relationships/slide" Target="/ppt/slides/slide5.xml" Id="R982c18e3006149d9" /><Relationship Type="http://schemas.openxmlformats.org/officeDocument/2006/relationships/slide" Target="/ppt/slides/slide6.xml" Id="Rd9ae8bd03fee4703" /><Relationship Type="http://schemas.openxmlformats.org/officeDocument/2006/relationships/slide" Target="/ppt/slides/slide7.xml" Id="Rd4fec0a2c4ac42d6" /><Relationship Type="http://schemas.openxmlformats.org/officeDocument/2006/relationships/slide" Target="/ppt/slides/slide8.xml" Id="Ra70df3b1bd5c4706" /><Relationship Type="http://schemas.openxmlformats.org/officeDocument/2006/relationships/slide" Target="/ppt/slides/slide9.xml" Id="R7e318514f6184679" /><Relationship Type="http://schemas.openxmlformats.org/officeDocument/2006/relationships/slide" Target="/ppt/slides/slide10.xml" Id="R8c6914ab51a44be3" /><Relationship Type="http://schemas.openxmlformats.org/officeDocument/2006/relationships/slide" Target="/ppt/slides/slide11.xml" Id="Re303fdd885274214" /><Relationship Type="http://schemas.openxmlformats.org/officeDocument/2006/relationships/slide" Target="/ppt/slides/slide12.xml" Id="Ra6dd8d6988b44e33" /><Relationship Type="http://schemas.openxmlformats.org/officeDocument/2006/relationships/slide" Target="/ppt/slides/slide13.xml" Id="R41d043ab24224d60" /><Relationship Type="http://schemas.openxmlformats.org/officeDocument/2006/relationships/slide" Target="/ppt/slides/slide14.xml" Id="Rdba053c07cdf4256" /><Relationship Type="http://schemas.openxmlformats.org/officeDocument/2006/relationships/slide" Target="/ppt/slides/slide15.xml" Id="R9f334ebb8a1745a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c79b74903134da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e74ea5fb31c4222" /><Relationship Type="http://schemas.openxmlformats.org/officeDocument/2006/relationships/notesMaster" Target="/ppt/notesMasters/notesMaster1.xml" Id="R64c02370b036455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e9ae58b90c64c1e" /><Relationship Type="http://schemas.openxmlformats.org/officeDocument/2006/relationships/notesMaster" Target="/ppt/notesMasters/notesMaster1.xml" Id="R9cfbbbec273b4b4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e3252f86315454d" /><Relationship Type="http://schemas.openxmlformats.org/officeDocument/2006/relationships/notesMaster" Target="/ppt/notesMasters/notesMaster1.xml" Id="R03786ade13cd409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5f2946661f04363" /><Relationship Type="http://schemas.openxmlformats.org/officeDocument/2006/relationships/notesMaster" Target="/ppt/notesMasters/notesMaster1.xml" Id="Rebd2657885b648b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e0b063af1424b63" /><Relationship Type="http://schemas.openxmlformats.org/officeDocument/2006/relationships/notesMaster" Target="/ppt/notesMasters/notesMaster1.xml" Id="R13249e1da1654f0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927480281ba472e" /><Relationship Type="http://schemas.openxmlformats.org/officeDocument/2006/relationships/notesMaster" Target="/ppt/notesMasters/notesMaster1.xml" Id="Rb1e29cf9560c41b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5f83c8039db4213" /><Relationship Type="http://schemas.openxmlformats.org/officeDocument/2006/relationships/notesMaster" Target="/ppt/notesMasters/notesMaster1.xml" Id="Rc4f8b361189c48f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15ab241d65d4519" /><Relationship Type="http://schemas.openxmlformats.org/officeDocument/2006/relationships/notesMaster" Target="/ppt/notesMasters/notesMaster1.xml" Id="R62f641b7482d4a0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5cc4df79a254dbb" /><Relationship Type="http://schemas.openxmlformats.org/officeDocument/2006/relationships/notesMaster" Target="/ppt/notesMasters/notesMaster1.xml" Id="Rc9a23e346caa433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c2e572d6f8f4545" /><Relationship Type="http://schemas.openxmlformats.org/officeDocument/2006/relationships/notesMaster" Target="/ppt/notesMasters/notesMaster1.xml" Id="Rbe16bbcba08b4d0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45fab7915b14182" /><Relationship Type="http://schemas.openxmlformats.org/officeDocument/2006/relationships/notesMaster" Target="/ppt/notesMasters/notesMaster1.xml" Id="Rabfa154f1a914bb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73fab7d9a2d46d7" /><Relationship Type="http://schemas.openxmlformats.org/officeDocument/2006/relationships/notesMaster" Target="/ppt/notesMasters/notesMaster1.xml" Id="R2dac884dddf340e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8278c73b5ae4afc" /><Relationship Type="http://schemas.openxmlformats.org/officeDocument/2006/relationships/notesMaster" Target="/ppt/notesMasters/notesMaster1.xml" Id="R4c463b5584e3448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2e212baf9db43cd" /><Relationship Type="http://schemas.openxmlformats.org/officeDocument/2006/relationships/notesMaster" Target="/ppt/notesMasters/notesMaster1.xml" Id="R5878890554854e5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1712d29fcfa4d0c" /><Relationship Type="http://schemas.openxmlformats.org/officeDocument/2006/relationships/notesMaster" Target="/ppt/notesMasters/notesMaster1.xml" Id="R918dc59c18584f4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99402d0d524321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c5f82e58b8dc47c0" /><Relationship Type="http://schemas.openxmlformats.org/officeDocument/2006/relationships/slideLayout" Target="/ppt/slideLayouts/slideLayout2.xml" Id="R2ddb454d8ced437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ddb454d8ced437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90c2d850bf4306" /><Relationship Type="http://schemas.openxmlformats.org/officeDocument/2006/relationships/notesSlide" Target="/ppt/notesSlides/notesSlide1.xml" Id="R45bf5592e2e9479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bf45e86bd24546" /><Relationship Type="http://schemas.openxmlformats.org/officeDocument/2006/relationships/notesSlide" Target="/ppt/notesSlides/notesSlide2.xml" Id="Rf7d2bb686ad749e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a0009948ee4246" /><Relationship Type="http://schemas.openxmlformats.org/officeDocument/2006/relationships/notesSlide" Target="/ppt/notesSlides/notesSlide3.xml" Id="R69daf8b8f7654f6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2068fb45ec4f55" /><Relationship Type="http://schemas.openxmlformats.org/officeDocument/2006/relationships/image" Target="/ppt/media/image.png" Id="R76f29132f03a42a4" /><Relationship Type="http://schemas.openxmlformats.org/officeDocument/2006/relationships/image" Target="/ppt/media/image.svg" Id="R0e9663a9c3e34022" /><Relationship Type="http://schemas.openxmlformats.org/officeDocument/2006/relationships/image" Target="/ppt/media/image2.png" Id="Rff69c4b6386f40fb" /><Relationship Type="http://schemas.openxmlformats.org/officeDocument/2006/relationships/image" Target="/ppt/media/image2.svg" Id="R39c6a182250e4260" /><Relationship Type="http://schemas.openxmlformats.org/officeDocument/2006/relationships/image" Target="/ppt/media/image3.png" Id="R3378f51d504a451f" /><Relationship Type="http://schemas.openxmlformats.org/officeDocument/2006/relationships/image" Target="/ppt/media/image3.svg" Id="Rf3c5e131f14d40e4" /><Relationship Type="http://schemas.openxmlformats.org/officeDocument/2006/relationships/notesSlide" Target="/ppt/notesSlides/notesSlide4.xml" Id="R5f44a729c73a46c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5b5ff4afdb4119" /><Relationship Type="http://schemas.openxmlformats.org/officeDocument/2006/relationships/image" Target="/ppt/media/image4.png" Id="Rfbaf51d080004a75" /><Relationship Type="http://schemas.openxmlformats.org/officeDocument/2006/relationships/image" Target="/ppt/media/image4.svg" Id="R5810c184ee7f4016" /><Relationship Type="http://schemas.openxmlformats.org/officeDocument/2006/relationships/image" Target="/ppt/media/image5.png" Id="Rb63d844693f74611" /><Relationship Type="http://schemas.openxmlformats.org/officeDocument/2006/relationships/image" Target="/ppt/media/image5.svg" Id="R06dcc11f1fe746ec" /><Relationship Type="http://schemas.openxmlformats.org/officeDocument/2006/relationships/image" Target="/ppt/media/image6.png" Id="R08c1b9792c704aaf" /><Relationship Type="http://schemas.openxmlformats.org/officeDocument/2006/relationships/image" Target="/ppt/media/image6.svg" Id="Rec42f83cd9704d99" /><Relationship Type="http://schemas.openxmlformats.org/officeDocument/2006/relationships/notesSlide" Target="/ppt/notesSlides/notesSlide5.xml" Id="R71a9381b8e0d4b9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80c683cbb141e7" /><Relationship Type="http://schemas.openxmlformats.org/officeDocument/2006/relationships/notesSlide" Target="/ppt/notesSlides/notesSlide6.xml" Id="R3eb4bbb3fa81414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ac1acde470844dd" /><Relationship Type="http://schemas.openxmlformats.org/officeDocument/2006/relationships/notesSlide" Target="/ppt/notesSlides/notesSlide7.xml" Id="R165a82481fcf4c2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d99099407c44c0" /><Relationship Type="http://schemas.openxmlformats.org/officeDocument/2006/relationships/notesSlide" Target="/ppt/notesSlides/notesSlide8.xml" Id="Rbbb52a875128487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2ed573748344c9" /><Relationship Type="http://schemas.openxmlformats.org/officeDocument/2006/relationships/notesSlide" Target="/ppt/notesSlides/notesSlide9.xml" Id="R3916f9a24b9545f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3a71d557564ebf" /><Relationship Type="http://schemas.openxmlformats.org/officeDocument/2006/relationships/notesSlide" Target="/ppt/notesSlides/notesSlide10.xml" Id="R7d5b228aee1d417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17840d2c7384a0b" /><Relationship Type="http://schemas.openxmlformats.org/officeDocument/2006/relationships/image" Target="/ppt/media/image7.png" Id="R273801bd8c60449d" /><Relationship Type="http://schemas.openxmlformats.org/officeDocument/2006/relationships/image" Target="/ppt/media/image8.png" Id="Raf464a44dd5e4514" /><Relationship Type="http://schemas.openxmlformats.org/officeDocument/2006/relationships/image" Target="/ppt/media/image7.svg" Id="R229db9861dda4fe6" /><Relationship Type="http://schemas.openxmlformats.org/officeDocument/2006/relationships/notesSlide" Target="/ppt/notesSlides/notesSlide11.xml" Id="R160598a6c5534b1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dc604b8c414edd" /><Relationship Type="http://schemas.openxmlformats.org/officeDocument/2006/relationships/image" Target="/ppt/media/image9.png" Id="Rc3e16fd1e6824d17" /><Relationship Type="http://schemas.openxmlformats.org/officeDocument/2006/relationships/notesSlide" Target="/ppt/notesSlides/notesSlide12.xml" Id="R84b234e6ac494cd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9c5ba1e59547d0" /><Relationship Type="http://schemas.openxmlformats.org/officeDocument/2006/relationships/notesSlide" Target="/ppt/notesSlides/notesSlide13.xml" Id="Rcad464a19033447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23ea3b08d84026" /><Relationship Type="http://schemas.openxmlformats.org/officeDocument/2006/relationships/notesSlide" Target="/ppt/notesSlides/notesSlide14.xml" Id="Rd93dfcaea0ed483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596f64a95494eb2" /><Relationship Type="http://schemas.openxmlformats.org/officeDocument/2006/relationships/notesSlide" Target="/ppt/notesSlides/notesSlide15.xml" Id="R33f0c68d0f34423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E3B2EBF-1802-4B31-993E-89801A4A9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7FE584-3CDC-4887-80DC-C790817D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9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EAA2DA-5543-4ADA-A851-E0B558C7C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0B209E-D606-444A-B57D-7CD976EE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7C15D6-0286-45A7-8E34-56148A29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A981BF-FBEE-4125-B1AF-05A208D40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E13088-77EF-46C3-AC5F-B2BC0B180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DF8555-FC89-4917-9914-F3F879AA9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E4C901-721C-4445-9D40-EF0FF077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61DF55-67B5-4CE3-A743-FCC60C06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949E2B-DC4E-48C2-8F26-38C1C49CB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FC2E28-C264-42CE-9856-06BE35485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9D5620-4265-4CB8-999F-AB945F75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2062AE-4B29-41DE-BCFB-FF5A06D5C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AF5872-B0EF-4A61-B855-5EA51C47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4060BE-3CD1-4B10-AC55-C39D6E7E7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3ECF25-9833-4FAB-9A9C-936D14A4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527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508150-8F87-4F56-B283-D27E316E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8C45B1-430D-49AB-A235-CEA3F33B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291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170F79-232C-4863-BF4E-8BB67C9A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BFBFEF-258B-4EE4-A00E-19B2CF5D9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2598A9-DE4E-4E61-A3C8-DE3885B2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5715000"/>
            <a:ext cx="2667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defRPr>
            </a:pPr>
            <a:r>
              <a: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rPr>
              <a:t>COVER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081D51-CC0A-41B2-A546-9F736009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81050"/>
            <a:ext cx="103632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1765"/>
            </a:srgbClr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837A1D-DDA4-420A-A85E-F3AE74CD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066800"/>
            <a:ext cx="979170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E2D351-AA29-4622-9651-74879A628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81150"/>
            <a:ext cx="1219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465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CLUSTER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BAD780-C2EE-4BE8-8D80-6E7BBE457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552700"/>
            <a:ext cx="3162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979D53-A970-426E-930C-8057F18F7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105150"/>
            <a:ext cx="1219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사진 한 장으로 인생을 기록하다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DB0AB2-1FB2-45A6-8275-A1D760EC7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91100"/>
            <a:ext cx="1219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최우석 · 김성애  |  한국정보통신학회 춘계학술대회 2026</a:t>
            </a:r>
          </a:p>
        </p:txBody>
      </p:sp>
    </p:spTree>
    <p:extLst>
      <p:ext uri="{BB962C8B-B14F-4D97-AF65-F5344CB8AC3E}">
        <p14:creationId xmlns:p14="http://schemas.microsoft.com/office/powerpoint/2010/main" val="60746974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05925E-DD1D-4D61-8EFA-2E22352F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5300AE-B0C2-4CC6-9A3D-41568678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9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1D8B8D-303C-4F80-89C1-6970E192F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9A74AE-B94C-4404-BA4F-CD586C129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75282A-5A28-4748-B8BA-2FADE143B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5187A8-5D65-45FD-9CA8-5823AD331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7B3F26-6D42-4917-8FDC-52F1E2E52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1AC8DE-3812-4458-B68A-DADC9CC8D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AE36A1-853D-494F-9D5E-0B8C35ED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B5D633-86DC-4CB9-BE37-B446A6E7D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9F381D-69FA-42C2-8B9A-B4184890B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44B494-D555-4171-A224-33822326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8790B3-3D40-4C79-8F85-E27F90FC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03E554-1F26-4E28-B356-FFBDF48A4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E1AD5D-367C-439E-9576-7E33BF76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FF3A3E-F75C-4789-A2A9-7638A6399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BE8FE6-9E7D-4E79-A84F-7367E5CAC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527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18B6D0-9F9F-43F2-AD7B-20DD0C6C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E28C37-8270-4D6F-8380-C8DA073C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291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3ECC66-1265-43F3-B136-6677BD5C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B5720B-0500-4BA3-AA40-2B5ADF14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FE25A8-FD68-4E35-9081-ED6FB768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5715000"/>
            <a:ext cx="2667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defRPr>
            </a:pPr>
            <a:r>
              <a: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rPr>
              <a:t>DATA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A87DB7-C5D1-45F0-BE14-AAFDF50EE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PROBLEM RECOGNITION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BD8A3E-474F-494B-8921-4212F3C12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8650"/>
            <a:ext cx="9048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우리는 역사상 가장 많은 사진을 찍는 세대입니다.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7CE691-BE09-4ABD-B48B-64ED79688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066800"/>
            <a:ext cx="819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그런데 그 사진들이 실제로 삶을 기록하고 있나요?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D8506E-DAE5-4355-975E-E348AFB9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52550"/>
            <a:ext cx="104394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B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51BA3E-39FC-48A2-B3EB-31682A8B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33550"/>
            <a:ext cx="40386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6D03C4-1E59-4D26-B31F-F3FFAA95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57350"/>
            <a:ext cx="40386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FC2181-F805-4474-AC69-33B4E4431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94310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76070"/>
                </a:solidFill>
                <a:latin typeface="Aptos Mono"/>
                <a:ea typeface="Aptos Mono"/>
                <a:cs typeface="Aptos Mono"/>
              </a:defRPr>
            </a:pPr>
            <a:r>
              <a:rPr sz="788" b="1">
                <a:solidFill>
                  <a:srgbClr val="676070"/>
                </a:solidFill>
                <a:latin typeface="Aptos Mono"/>
                <a:ea typeface="Aptos Mono"/>
                <a:cs typeface="Aptos Mono"/>
              </a:rPr>
              <a:t>ANNUAL PHOTO VOLUME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C59C213-F945-4C3A-B637-BD47B7943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098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1.9조 장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3A1E25C-C366-495A-83CF-8F8E4763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43300"/>
            <a:ext cx="1047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2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BD734AD-B144-49B4-AC18-BA6C42F2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3495675"/>
            <a:ext cx="104775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2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4D66AFC-87DD-4567-8DE8-FE9D28C8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448050"/>
            <a:ext cx="1047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2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C4D706-EDAA-4F79-ABAA-5054A7603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400425"/>
            <a:ext cx="104775" cy="1209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2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FA23EB-95ED-4F1F-B67E-6C1EDA6CC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352800"/>
            <a:ext cx="1047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2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E6F1F3E-FD27-4992-8AA9-E0400E3D3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3305175"/>
            <a:ext cx="104775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2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29DF9B3-829D-4A6C-B22B-64515E1E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257550"/>
            <a:ext cx="1047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2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6AD559E-325A-4BEC-81FC-ED9E1C6F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3209925"/>
            <a:ext cx="104775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2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0655456-13BE-4DA8-91A9-1325D416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162300"/>
            <a:ext cx="10477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2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7D5A5BE-3C94-494D-B959-74A4104A9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3114675"/>
            <a:ext cx="104775" cy="1495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2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F777ADA-1C01-46DC-A0B8-BB73A2E1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067050"/>
            <a:ext cx="10477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2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C17EEF6-5995-4436-86EF-24E40A662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019425"/>
            <a:ext cx="104775" cy="1590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2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6512364-2E16-4CBE-9895-C6C70B9AD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971800"/>
            <a:ext cx="104775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2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680E634-A7D6-43DA-B4B6-D6C2E1412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924175"/>
            <a:ext cx="104775" cy="1685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2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D9B65A4-7DB2-4CC7-A363-2FA99326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876550"/>
            <a:ext cx="10477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7B7459C-B05C-4635-A39C-CE2AE66C2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2828925"/>
            <a:ext cx="104775" cy="1781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D936B03-56E9-42A0-B9F7-8AD2D8582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781300"/>
            <a:ext cx="104775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8055449-BD17-4256-8C5A-3F9EE11B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733675"/>
            <a:ext cx="104775" cy="1876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533A4AA-AECA-4730-955A-66DC1262E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62500"/>
            <a:ext cx="323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사진의 양은 폭증했지만</a:t>
            </a:r>
          </a:p>
          <a:p xmlns:a="http://schemas.openxmlformats.org/drawingml/2006/main">
            <a:pPr algn="l">
              <a:defRPr sz="1050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기억의 맥락은 구조화되지 않았습니다.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B43DC5F-9120-4094-B77D-8726C4AF4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733550"/>
            <a:ext cx="2686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45A0125-37C9-4531-8B34-0A7DB9BFA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657350"/>
            <a:ext cx="2686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A964A17-60F2-4A4B-A9C4-39426BFEC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94310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76070"/>
                </a:solidFill>
                <a:latin typeface="Aptos Mono"/>
                <a:ea typeface="Aptos Mono"/>
                <a:cs typeface="Aptos Mono"/>
              </a:defRPr>
            </a:pPr>
            <a:r>
              <a:rPr sz="788" b="1">
                <a:solidFill>
                  <a:srgbClr val="676070"/>
                </a:solidFill>
                <a:latin typeface="Aptos Mono"/>
                <a:ea typeface="Aptos Mono"/>
                <a:cs typeface="Aptos Mono"/>
              </a:rPr>
              <a:t>SMARTPHONE SHARE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045E82F-E50E-48EF-9041-5A2D10DC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209800"/>
            <a:ext cx="171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5F2E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450" b="1">
                <a:solidFill>
                  <a:srgbClr val="5F2EEA"/>
                </a:solidFill>
                <a:latin typeface="Apple SD Gothic Neo"/>
                <a:ea typeface="Apple SD Gothic Neo"/>
                <a:cs typeface="Apple SD Gothic Neo"/>
              </a:rPr>
              <a:t>94%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839C2E1-C511-4CCD-8E35-4E40FF9E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105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C8F1143-79B6-4110-83CF-C7FF88F9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105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5CDBBC0-5CAD-402B-843B-870FF5366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105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3326178-9501-47F5-8F36-A66548B2E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105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FB8E5D7-9497-44B8-A5A9-D603101A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05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D1BC56B-BD9F-4F13-8044-CDEEBBF1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105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440C926-FC39-4188-A59C-1ED3E8C3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05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0344748-19D7-47CB-AE97-60B4038A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05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735543A-837C-4683-BFD7-0FA893D60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105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2F5FF14-E667-48A3-8C60-7117B3CD8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105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1B33D1A-AFF2-4727-82C1-B4D4E02C5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267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41E7864-6839-4303-AB39-9D07A2096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267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CBB1BA3-8FBF-4BA0-A78F-DB0D4195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267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176DD25-B327-4D53-A034-3CEEE75C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67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1E44A78-A791-4796-900D-E79F45CC9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67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5622884-8728-4960-AE47-D4A7D80F9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267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C1816E0-932D-4936-A3AA-68A9BFF10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267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022828B-8938-4C57-97DC-9DC13AD5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267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18547BD-E5F0-46D0-B254-DFF98D94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267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0C95A57-550A-42D6-AB0A-312DA9806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267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8AE5F35-C52F-482C-A6CA-D6EDFAE10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429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88D0D73-2184-4C13-A080-CFB7EF32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429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6E9040E-4434-4A22-ACA4-6EF7A4278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429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2928237-EAAD-42AE-9754-930D8EA15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29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634D424-A5F3-469C-9F10-D9BC3EBD6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29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1CA3D1C4-814D-4580-B347-EB3B7C73E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429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B6C2CEB-D744-46B4-98F6-39F382633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29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E967801-6C58-4D34-8BBF-9B192D4AF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429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8367175-F973-4310-803B-046B0074F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429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9158BAA-9F03-4BAA-9090-1426A9C8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29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8CE442D-78F5-4CA7-B634-94656716F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590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231351F-0377-4648-8EDF-5EDE3F5B0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590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7CC9DF4-4752-4BED-B4C4-514127772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590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766A7BD-A867-4EE0-B53D-0F408968D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590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1855874-FAFA-49F5-98DA-681654A97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5CAA43B-307E-4C4A-A443-F5CBECA3A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90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DA9A4B60-E430-4EEB-A53E-29DAAFA7A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590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77F5C25F-C0AB-4981-93CB-FA739C6EE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590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AE929E1-9FB7-4274-B204-5F2204EF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590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B55CE44-8887-46BB-BE7B-82AC351B0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590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F040335-FC07-4420-9572-2A49D3FE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752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2266192-F8FA-4CBA-B18F-92C2DA632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752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7BCD2AC-0F4D-4060-B649-700FCD00F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752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C2C3E8B-A466-48C0-8110-5E17B328A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752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D333AB58-A644-41E4-9D9A-0FB47958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52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41DCC68-FB57-4A46-B282-FE07B97AB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52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A7F392F-E27F-4C49-BDEA-DE373561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752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966DA055-C970-4AC7-8AF3-02B010E7A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752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07EAB1A-925C-4FB5-800D-8F36CDBE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752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F6D5EE66-A179-4456-825B-BE2AAB423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752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FE5EB8B6-9FFA-485D-BFF0-2C66562BA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914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E80848E4-C3BB-4B98-90AF-77D3FFBD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914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8E41ECA2-6689-4115-8261-E2354BC1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914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CF4ED060-5DA5-47FC-AAE1-BAA87F47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14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B0BC93BD-A2C1-43CE-82C0-FDD82721E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14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B58F33B6-7762-4119-BDA5-277879E5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914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345A92B3-78FF-4621-B995-342A1A29E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914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C7EDB263-982A-480C-9050-563F18A2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914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88527D72-1A4D-4A1B-BCBC-302ACEA20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914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622E4D74-E5ED-42C8-9A31-FE2438D1A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914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9EF0C75E-1C84-4E81-BE37-0D16E7F3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076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30BA1F25-D154-41D7-BBBE-E09E60D72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076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C216F0A5-0DEF-4853-8FC6-6E773B5D2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76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776924FA-B25B-447A-9219-F1C02036F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076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41D18CC4-34D8-40D9-9D44-76DA26AC3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76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3025C8E2-2F22-4AA3-8A9A-44F9F8128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76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F3A6A87-B3FF-4993-99D1-B68E255F4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076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F2F06DEE-CB43-4492-964C-2D62FF884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76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1CB947F7-353B-49AE-8315-59503C471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076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DB9C67AD-496F-4A39-85C0-57D23DC5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76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D68A2F06-6993-45EF-80AF-C9B1CF24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238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DC46909B-313C-4AE6-B21C-D2DC6C5C9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238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43470E68-58CE-4AC6-8184-CBC31B068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238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A059E18-ECC5-4905-90E4-6122E31D3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38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BE101C67-FA5C-4C99-857A-5D28DDFF3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38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29B34FB0-CD7E-49E0-989F-1A4D2745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238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B4B83F10-86AE-42EA-998E-4A9012274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38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F0F5029E-B9FC-4E02-88D8-6B74E83AA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238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83856478-D67C-470C-BB11-D479EF21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238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EC6A308E-C1E5-4FB2-92AE-76BC3148D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238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6431C9EC-8D04-406F-88B3-AFFC5FA83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400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78923FD7-BA61-4027-B658-4C93C5DA0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400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26870DB9-7E61-4DD7-B03E-ACBC235D1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400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CF72244C-10C1-4A59-8002-7FE838BA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00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D2147FFB-0A78-4640-82C7-C4156D051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00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3A4D2E7B-675E-4F81-8441-7CBB2CF2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400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216C818B-6105-409D-91DB-34D2D1CE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400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F362E36E-9945-4255-8BEC-805212EC7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400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1FF2168A-6D45-409D-88C3-DAE4C0DBE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400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D154345F-B920-4273-BBA0-A1EF9A3D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005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0505B73A-D665-40BC-9F86-D954ABBE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562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EFAFBB72-33BF-4D24-A94F-CFF285682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562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855F4F48-0C0A-4A94-8370-7D5218E0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562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A1A47442-1D74-4885-A7EE-32A0A9282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562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C4A03D66-9ACA-4D7F-B469-2D008928E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62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CD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ABA3B352-846A-4AFE-8D92-5C2FF67E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62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CD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83E92512-01F9-41D9-912E-C405542F3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562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CD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938FBB06-E03A-48D3-8E23-FC30CF33A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562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CD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723B1F10-6F82-43EE-87E4-8A20F75A4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562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CD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69054E7E-1B4F-401E-A7AF-5740E529D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562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CD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BE211B57-D583-45F0-A11A-EC00F9E9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876800"/>
            <a:ext cx="1809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스마트폰은 기록 장치를</a:t>
            </a:r>
          </a:p>
          <a:p xmlns:a="http://schemas.openxmlformats.org/drawingml/2006/main">
            <a:pPr algn="l">
              <a:def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항상 손에 쥐게 만들었습니다.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7BD176F7-8B60-44DE-9E86-C4E77894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733550"/>
            <a:ext cx="29527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A8B6E84F-9F87-451D-8354-C62A5B789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657350"/>
            <a:ext cx="29527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E09ACD54-375E-4B27-8338-A6BAD4DE4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76070"/>
                </a:solidFill>
                <a:latin typeface="Aptos Mono"/>
                <a:ea typeface="Aptos Mono"/>
                <a:cs typeface="Aptos Mono"/>
              </a:defRPr>
            </a:pPr>
            <a:r>
              <a:rPr sz="788" b="1">
                <a:solidFill>
                  <a:srgbClr val="676070"/>
                </a:solidFill>
                <a:latin typeface="Aptos Mono"/>
                <a:ea typeface="Aptos Mono"/>
                <a:cs typeface="Aptos Mono"/>
              </a:rPr>
              <a:t>CORE QUESTION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19C50670-A24F-48F3-A1CD-D3F7CB488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381250"/>
            <a:ext cx="2190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사진이 많아질수록</a:t>
            </a:r>
          </a:p>
          <a:p xmlns:a="http://schemas.openxmlformats.org/drawingml/2006/main">
            <a:pPr algn="l">
              <a:defRPr sz="18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기억은 더 찾기 어려워집니다.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ADAF24DB-9A08-4117-A8D8-C611D50F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56235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54266C2F-145A-4A4B-8F42-D539455C8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943350"/>
            <a:ext cx="2095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양의 문제에서</a:t>
            </a:r>
          </a:p>
          <a:p xmlns:a="http://schemas.openxmlformats.org/drawingml/2006/main">
            <a:pPr algn="l">
              <a:defRPr sz="135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구조의 문제로 전환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D06C478B-2033-418F-A2B5-D82AAECD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E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717ED68C-3191-43A9-89B8-1362613F6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0"/>
            <a:ext cx="419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CLUSTER · 사진 한 장으로 인생을 기록하다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B7EC51B9-89BE-418C-B76C-5984043A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38900"/>
            <a:ext cx="38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7469153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5F3BC9-F7DF-42FA-823B-C4425EE5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A4DE6F-9821-4952-8CC5-43422CB25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9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79F12E-5B45-43C8-8D57-3E7096F1E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B28A8D-1B10-451A-AA5E-FA688BD2B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C93EC1-F659-4C09-AA83-C32F6AF8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028097-D348-4172-9032-034827894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DD9A12-1706-4D70-9B3F-C9D63BA1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846594-59E4-457B-A458-221A1FA1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D84743-D608-41C5-961B-7BFE998F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724FE2-E77D-47AC-B7FE-3F505CBF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12326E-20E3-4123-B7ED-BFC4B90D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019172-A517-412D-BD3B-9486ECB96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34E5F1-9D86-4039-9755-28C6EC69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26DBDA-18C3-4C09-8A30-110D99B4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7D2FE5-BB82-4C19-8C14-5C7A9AC7C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3AEED4-B550-4B81-B158-306BEF4F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4DA582-B14D-4FE5-AA44-61E78172B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527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7E9B60-2F52-43DB-BC8A-0F9CD69D8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BC3F2B-D693-430E-BEE1-4957072D6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291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115236-21E4-4C8C-8F47-CA386FF55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B14C48-9C3B-49D3-8B97-89EDD294E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848E21-F709-4B52-AFED-752214CAC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5715000"/>
            <a:ext cx="2667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defRPr>
            </a:pPr>
            <a:r>
              <a: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rPr>
              <a:t>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29F2EB-5A4E-423A-A49D-416AC122B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MEMORY GAP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768918-D5F1-4695-A7F0-5E492DD1B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8650"/>
            <a:ext cx="9048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사진은 있습니다. 그런데 원하는 기억을 찾을 수 있나요?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1A9DA3-120B-4967-909F-0E1D913B4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52550"/>
            <a:ext cx="104394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B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450239-F942-4A65-A2A5-4ED11672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695450"/>
            <a:ext cx="95250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4B8D98-CAD0-421C-8B63-F1C07A09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619250"/>
            <a:ext cx="95250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B8A8BC-C520-4316-8DD2-04B94A703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0002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5FF"/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A0857F-B67B-44CA-A1C2-8D916C0C1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0002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1D3"/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159AFD-067B-40BB-B8B8-3C1088138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0002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1D3"/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3019CF4-9BC6-40B8-9AEA-ABE568BE0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002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5FF"/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7E07006-436C-42AA-881A-E253F8A0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0002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1D3"/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9E6A632-F651-4FCA-AE3A-4AB42D731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0002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1D3"/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7CE8FC9-BD44-46AB-B5E0-20D673DC7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002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5FF"/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E223BC8-F962-4774-975D-B0B0299F6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0002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1D3"/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B84062A-1693-4DE4-8E70-C4D53BAC8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5908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1D3"/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A97B363-67D0-4EAE-AE53-0277C01B8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5908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5FF"/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713AD31-5BA6-4747-AFB7-5CC8DB5E2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5908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1D3"/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C0CCD56-F1A4-4B03-B17D-0ECE5B68D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908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1D3"/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0EA4B41-124A-4D3A-ADD3-EAF2E934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5908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5FF"/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1B44621-5E3B-466E-A209-B6EF4BAA0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5908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1D3"/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F154F2B-95DF-4366-8961-43C2DE90F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5908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1D3"/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A123ED9-2B85-43EB-A6FD-0B40CDE58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5908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5FF"/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A7C30E2-5B54-4EC5-A63A-77ACA9F4B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733800"/>
            <a:ext cx="628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B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F2E35DD-229D-438C-A444-DEBCCA551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038350"/>
            <a:ext cx="2343150" cy="2343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76200">
            <a:solidFill>
              <a:srgbClr val="5F2EE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DA8F940-B4C1-479A-AB55-409B1FBF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962400"/>
            <a:ext cx="11811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8230FE5-EF38-48C1-B7A8-6F60E3A62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800350"/>
            <a:ext cx="4953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여러분은 작년 이맘때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2678FE3-B759-4E1E-AA05-4116CD314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371850"/>
            <a:ext cx="4953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누구와 어디 있었나요?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B370B26-968F-4064-9F92-9C6C5A8C3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33600"/>
            <a:ext cx="15049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6F4A7C9-3474-43EA-883E-F5840C852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19325"/>
            <a:ext cx="1162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CFC2FF"/>
                </a:solidFill>
                <a:latin typeface="Aptos Mono"/>
                <a:ea typeface="Aptos Mono"/>
                <a:cs typeface="Aptos Mono"/>
              </a:defRPr>
            </a:pPr>
            <a:r>
              <a:rPr sz="713" b="1">
                <a:solidFill>
                  <a:srgbClr val="CFC2FF"/>
                </a:solidFill>
                <a:latin typeface="Aptos Mono"/>
                <a:ea typeface="Aptos Mono"/>
                <a:cs typeface="Aptos Mono"/>
              </a:rPr>
              <a:t>WHO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31AAD56-5A52-499E-96CF-38F763F2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00300"/>
            <a:ext cx="1162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누구와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1182D18-B216-4C70-AB5D-221C02713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429000"/>
            <a:ext cx="15049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E0B71E0-9816-45B6-90D9-04347FFD9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4725"/>
            <a:ext cx="1162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CFC2FF"/>
                </a:solidFill>
                <a:latin typeface="Aptos Mono"/>
                <a:ea typeface="Aptos Mono"/>
                <a:cs typeface="Aptos Mono"/>
              </a:defRPr>
            </a:pPr>
            <a:r>
              <a:rPr sz="713" b="1">
                <a:solidFill>
                  <a:srgbClr val="CFC2FF"/>
                </a:solidFill>
                <a:latin typeface="Aptos Mono"/>
                <a:ea typeface="Aptos Mono"/>
                <a:cs typeface="Aptos Mono"/>
              </a:rPr>
              <a:t>WHERE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8F68C93-61C5-431A-8E49-89A19390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695700"/>
            <a:ext cx="1162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어디서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D71C6D4-3B6E-4E4A-95A4-C2D3E1B2B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438650"/>
            <a:ext cx="1695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8B1D94D-26BC-4E85-B45B-2557C2ABF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524375"/>
            <a:ext cx="1352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CFC2FF"/>
                </a:solidFill>
                <a:latin typeface="Aptos Mono"/>
                <a:ea typeface="Aptos Mono"/>
                <a:cs typeface="Aptos Mono"/>
              </a:defRPr>
            </a:pPr>
            <a:r>
              <a:rPr sz="713" b="1">
                <a:solidFill>
                  <a:srgbClr val="CFC2FF"/>
                </a:solidFill>
                <a:latin typeface="Aptos Mono"/>
                <a:ea typeface="Aptos Mono"/>
                <a:cs typeface="Aptos Mono"/>
              </a:rPr>
              <a:t>WHEN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365D46D-3B4F-4A83-8B11-68EE7737B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705350"/>
            <a:ext cx="1352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작년 이맘때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1704D96-C433-47E7-BE1D-E964F2BE6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88645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너무 많아서 압도당하는 사진 더미를, 검색 가능한 기억 구조로 바꾸는 것이 문제의 핵심입니다.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E7C5DCE-79E0-45F2-A275-16E4F4E1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E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4036D0C-69A0-4327-9A86-6FB19CBF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0"/>
            <a:ext cx="419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CLUSTER · 사진 한 장으로 인생을 기록하다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7D12451-8E33-4882-B783-2C6D55D8D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38900"/>
            <a:ext cx="38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8367886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87A9A0E-E87F-4DCF-9550-572BED3F5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D6A44C-64C6-4E9C-8608-E264259D5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9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81BF93-6033-43CB-B02A-FC23CF36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32E467-17A7-486B-A625-1A05DFF69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C1CE21-B867-4C22-BCA8-1CED9C3B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C2B49D-B8F1-454F-88EA-67368B1B6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BDAD67-1F19-4FCA-8C62-8902AD6BB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2C18C9-FE7A-4465-A1FE-2D6F52144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166787-B1CC-405D-B0BA-8CFA24B0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06032F-4953-44F4-8CB2-B92FD398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A8A716-7AF9-49D6-AFEC-D9BF1B37C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A230FD-E987-4C1F-AB2D-0858F100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4F2655-2822-4BC9-8BB8-F01FE799D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0DA661-0035-497B-A9C5-195D384AE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9743BE-C7A7-47A8-B464-D31FFDCA8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8A2817-2BAB-4F38-BA9E-4218EDC8F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E1F529-9F0E-489F-8922-398617706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527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912756-3108-4031-80CF-73FA824DC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E25778-7325-419E-B216-75D2AB18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291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D1CA43-0331-4230-B9E3-E9DF32E1A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C4B649-AA00-460A-B618-3787416C0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2ADCCD-6697-475D-853C-C459F45E0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5715000"/>
            <a:ext cx="2667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defRPr>
            </a:pPr>
            <a:r>
              <a: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rPr>
              <a:t>COMPARE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E82581-9D31-417A-8337-F629D4D0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EXISTING LIMITS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EC588C-44FB-452A-B99A-B52B54C61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8650"/>
            <a:ext cx="9048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갤러리와 캘린더는 같은 공백을 공유합니다.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0BF581-5D0C-419C-B3C4-04F072290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066800"/>
            <a:ext cx="819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관계와 장소 기반의 기억 구조화를 지원하지 않습니다.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8B2E58-6B39-4948-9813-5671B7BC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52550"/>
            <a:ext cx="104394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B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95D953-CD82-4DB7-810C-3AE9BBE9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85950"/>
            <a:ext cx="2857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700872-5A56-4451-AED6-48096237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09750"/>
            <a:ext cx="2857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f29132f03a42a4">
            <a:extLst>
              <a:ext uri="{96DAC541-7B7A-43D3-8B79-37D633B846F1}">
                <asvg:svgBlip xmlns:asvg="http://schemas.microsoft.com/office/drawing/2016/SVG/main" r:embed="R0e9663a9c3e3402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257300" y="21336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C95947-35F7-43AB-95B0-08521868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1526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갤러리 앱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DB8849-252E-41B3-BA1F-0DE5F351B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1465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날짜 기반 나열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BF9734-7007-4BEA-8405-6B7F3675F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524250"/>
            <a:ext cx="2057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누구와 있었는지 찾을 수 없음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58A3E36-CAC9-4032-B0E5-BFC26E49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85950"/>
            <a:ext cx="2857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8870494-5217-4DBB-8E19-A0ADCA5AE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809750"/>
            <a:ext cx="2857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69c4b6386f40fb">
            <a:extLst>
              <a:ext uri="{96DAC541-7B7A-43D3-8B79-37D633B846F1}">
                <asvg:svgBlip xmlns:asvg="http://schemas.microsoft.com/office/drawing/2016/SVG/main" r:embed="R39c6a182250e426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686300" y="21336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400375-3355-44AC-AD52-A9E83516A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1526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공통 공백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F47A488-D957-4739-B5B4-F0E2A891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91465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DE7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EDE7FF"/>
                </a:solidFill>
                <a:latin typeface="Apple SD Gothic Neo"/>
                <a:ea typeface="Apple SD Gothic Neo"/>
                <a:cs typeface="Apple SD Gothic Neo"/>
              </a:rPr>
              <a:t>관계·장소 기반 구조화 부재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061BB37-FBA2-416A-BD08-A1E4FFE18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524250"/>
            <a:ext cx="2057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D9CC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D9CCFF"/>
                </a:solidFill>
                <a:latin typeface="Apple SD Gothic Neo"/>
                <a:ea typeface="Apple SD Gothic Neo"/>
                <a:cs typeface="Apple SD Gothic Neo"/>
              </a:rPr>
              <a:t>기억의 맥락이 연결되지 않음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836770B-3A66-45CD-9537-A70C5A797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85950"/>
            <a:ext cx="2857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4AC1BE9-D6AD-4A25-A202-59258B8C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809750"/>
            <a:ext cx="2857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78f51d504a451f">
            <a:extLst>
              <a:ext uri="{96DAC541-7B7A-43D3-8B79-37D633B846F1}">
                <asvg:svgBlip xmlns:asvg="http://schemas.microsoft.com/office/drawing/2016/SVG/main" r:embed="Rf3c5e131f14d40e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115300" y="21336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8CBCBD0-8753-411F-89AF-38CFD61F5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1526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캘린더 앱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E747D6-EA2D-45C5-A8A3-FF9F197AB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14650"/>
            <a:ext cx="219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일정 관리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0F42377-A332-4866-A158-502E0E413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24250"/>
            <a:ext cx="2057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실제로 일어났는지 기록되지 않음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D01560D-A767-4221-B6BC-A9C525A57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371850"/>
            <a:ext cx="361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11803D1-4058-4038-A552-50F4EA38C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30517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AC8E42A-DB57-4468-8B57-F43B1CBB1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71850"/>
            <a:ext cx="38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68BCDDC-BCA5-4EC2-948D-B899A7D27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0517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FB39762-4282-437B-BEF0-9D31D66B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35305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A528DD2-74B6-4663-95FA-9ECB9213D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505450"/>
            <a:ext cx="781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CLUSTER는 관계·장소·시간을 ActivityLog로 연결합니다.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B61B11B-F2D9-47E2-A1A8-53930A89D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E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C44C2FB-4987-4D2E-8FC0-3A8655DB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0"/>
            <a:ext cx="419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CLUSTER · 사진 한 장으로 인생을 기록하다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75B1241-73FD-4A8E-B057-1ED05F83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38900"/>
            <a:ext cx="38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4155919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25C494-FEC6-46F8-A43D-EE3972C6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50DC28-85DD-4A47-914D-4A9012A4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9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FF83DA-EF09-464A-825C-418C95A57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63AAB5-01A7-4789-8F7E-30540F369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103019-3A4E-44BB-8322-12C1951E3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1F8A44-EDE4-4924-95EB-C090395A5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16A6F0-F88F-4A26-9155-457E432A6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3054ED-110F-4327-A2FC-2A82DDCFD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0332F4-E1CB-4EF6-BB93-5864DC5EC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83DC54-E464-4923-A693-D8118277C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C319D0-D0E9-4E37-898E-8C4E53C9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8AB4B3-66B5-4F96-8467-87C74348D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3E2F52-8916-4E2F-A54A-A1F5A0543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D2BD52-A1C9-46C9-A55E-1168C4718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526184-9968-4C77-B27C-4357EE2A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88F779-DBA6-4A2C-96E9-8B103E6D3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09C621-518D-409F-A39F-42D69B062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527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FAC93E-39EB-4DF8-B01E-03F12DEFF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7AE496-6C0D-45BD-B678-2921DB912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291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5ADD84-43F0-4173-961B-50B3F16D7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D518A9-3B8C-4529-9113-8FF823728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6F18C2-AC9D-4BCD-9911-316D297D2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5715000"/>
            <a:ext cx="2667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defRPr>
            </a:pPr>
            <a:r>
              <a: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rPr>
              <a:t>VALUE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F60ED8-2889-4767-8BA4-79C544BE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CLUSTER VALUE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0C9227-EDD0-4B02-9563-6D7F2A96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8650"/>
            <a:ext cx="9048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사진 한 장으로 인간관계와 장소 방문 이력을 자동 구조화합니다.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F0A08A-3ACE-464E-9DF9-D44CB66B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52550"/>
            <a:ext cx="104394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B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4EECBB-C24C-4664-97DF-B42B35E1B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152650"/>
            <a:ext cx="2762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C4EB71-9259-49E7-87F1-85857370D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05100"/>
            <a:ext cx="276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240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CLUSTER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777E5F-2029-4029-91A6-48C793829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295650"/>
            <a:ext cx="2762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EDE7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EDE7FF"/>
                </a:solidFill>
                <a:latin typeface="Apple SD Gothic Neo"/>
                <a:ea typeface="Apple SD Gothic Neo"/>
                <a:cs typeface="Apple SD Gothic Neo"/>
              </a:rPr>
              <a:t>인생 인프라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5239D6-EB4E-4A50-BB9C-B579987FA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85950"/>
            <a:ext cx="2952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019C5E6-D3DB-4B39-B714-BEBB563B4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2952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af51d080004a75">
            <a:extLst>
              <a:ext uri="{96DAC541-7B7A-43D3-8B79-37D633B846F1}">
                <asvg:svgBlip xmlns:asvg="http://schemas.microsoft.com/office/drawing/2016/SVG/main" r:embed="R5810c184ee7f401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314450" y="21717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8335EBD-5485-4CA4-8EDF-72CE38061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0764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인생 인프라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451CC0-4703-4D5C-89CA-929358775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381250"/>
            <a:ext cx="1809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휘발되는 기억을</a:t>
            </a:r>
          </a:p>
          <a:p xmlns:a="http://schemas.openxmlformats.org/drawingml/2006/main">
            <a:pPr algn="l">
              <a:def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체계적 자산으로 전환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B40C6A2-A794-43A5-926A-5EB690FB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85950"/>
            <a:ext cx="2952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90DEFEC-06B1-40D8-8480-4C8CAA512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09750"/>
            <a:ext cx="2952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3d844693f74611">
            <a:extLst>
              <a:ext uri="{96DAC541-7B7A-43D3-8B79-37D633B846F1}">
                <asvg:svgBlip xmlns:asvg="http://schemas.microsoft.com/office/drawing/2016/SVG/main" r:embed="R06dcc11f1fe746e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458200" y="217170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B5C577F-A867-4767-8FD3-20F01CBF0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764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기록의 진실성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B5ABE9-921D-4CEB-B4AE-6CE8C3DB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381250"/>
            <a:ext cx="1809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사진·GPS·시간이 일치할 때만</a:t>
            </a:r>
          </a:p>
          <a:p xmlns:a="http://schemas.openxmlformats.org/drawingml/2006/main">
            <a:pPr algn="l">
              <a:def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기록으로 인정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D5659C9-FC55-4987-B535-32A59616D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838700"/>
            <a:ext cx="2952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28E8BE0-5A5E-4232-8C82-C38FD497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762500"/>
            <a:ext cx="2952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c1b9792c704aaf">
            <a:extLst>
              <a:ext uri="{96DAC541-7B7A-43D3-8B79-37D633B846F1}">
                <asvg:svgBlip xmlns:asvg="http://schemas.microsoft.com/office/drawing/2016/SVG/main" r:embed="Rec42f83cd9704d9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933950" y="5124450"/>
            <a:ext cx="361950" cy="361950"/>
          </a:xfrm>
          <a:prstGeom xmlns:a="http://schemas.openxmlformats.org/drawingml/2006/main" prst="rect">
            <a:avLst/>
          </a:prstGeom>
        </p:spPr>
      </p:pic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BB42959-4477-4C19-9533-F4DCC0F48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50292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자아 집중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4FEFB2A-6BBF-4BC3-A514-6E91ACAB1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5334000"/>
            <a:ext cx="1809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에너지를 쏟는 대상이</a:t>
            </a:r>
          </a:p>
          <a:p xmlns:a="http://schemas.openxmlformats.org/drawingml/2006/main">
            <a:pPr algn="l">
              <a:def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무엇인지 데이터로 시각화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B6C47C4-CCA2-41B7-80A4-132BE8106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5275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FEE01EE-4290-4A80-9061-34768687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8607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9DCCC55-57EB-45AB-8A5C-D676691C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52750"/>
            <a:ext cx="51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B219349-5692-4F16-B17D-FB39B76D2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8607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DB18998-1A05-4894-B5A7-991A3C1CE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E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8A230F2-DD3F-4548-948D-A3562A05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0"/>
            <a:ext cx="419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CLUSTER · 사진 한 장으로 인생을 기록하다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55CE36F-2215-45C2-8161-DF8E1800B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38900"/>
            <a:ext cx="38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8663158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2CFEA1-A5E2-4A04-A105-38AEFAFA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DC5DEB-EBAB-45AB-A985-9B89F0B0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9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84B16B-5225-4952-90B2-A85C155E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FD2365-B976-44FA-A46D-DA5B8BBD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50FAA1-D1F2-4C9F-A8FB-B9725682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966E18-F73E-415E-9EAC-83C2EA937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27EE87-577C-4DCF-B283-C5D7C56B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79BB8D-F3F7-4E5C-83EF-DC653B767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79F9B1-C9F5-46E7-AF58-E30FDC52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F5FB13-A2A7-4242-851C-22F2DC72B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0B7C14-4ED0-4B4F-B045-B1ACD10A2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BD0DB1-D4C3-41DA-8BE9-FEAF4B7F0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0ED7F6-17AC-4F2C-88DA-1A94AAD3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3E127D-28CC-4CCD-B01F-990B3769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F08037-540A-42FC-94BF-032E502CB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7B8065-2DE8-4D44-AF7F-0A5F3C3DF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DD205A-F612-464F-82A2-BDF4EA0F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527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41496D-791D-40F9-9E7C-6A8ADD4E1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8BC4F6-6FA2-43E5-9155-C210ADCFA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291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8FF06F-FA86-472E-88BF-4BE96294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E88C05-CEAE-4525-AFF6-BB1329FAD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D76DA9-ACE3-40D7-B1FB-EB54BA4E0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5715000"/>
            <a:ext cx="2667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defRPr>
            </a:pPr>
            <a:r>
              <a: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rPr>
              <a:t>ARCHITECTURE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7B582E-D732-4B5D-A8E2-F4F7F1E2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SYSTEM ARCHITECTURE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4BB265-AF9B-4B58-B7B2-3AB66688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8650"/>
            <a:ext cx="9048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핵심 흐름은 하나입니다: 사진 업로드가 ActivityLog로 바뀝니다.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255A29-97AB-475C-BA3B-29278895F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52550"/>
            <a:ext cx="104394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B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60ADA0-FECF-4916-81A4-F7CD9251C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57450"/>
            <a:ext cx="16764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BECBB6-30CD-4E0F-B95B-9F6E68380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81250"/>
            <a:ext cx="16764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D9C74D-13F4-4EEC-9FC8-FF667AFAD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24150"/>
            <a:ext cx="133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사용자 브라우저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E688BE-D92C-4998-B953-12E539AB0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4325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Upload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B0FC57-D236-4BA1-BCB9-D8B9FD55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86100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56E829-F2C4-4BB7-ACBC-6FB067E3C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01942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C90685-7FFF-4AAE-843B-801082820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457450"/>
            <a:ext cx="16764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D37A21-A871-4DB2-B175-E32B03D1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81250"/>
            <a:ext cx="16764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FBCB0CB-E9A0-4695-AFAD-E38227614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724150"/>
            <a:ext cx="133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Vercel Frontend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9E1ABE2-0DBE-48A3-9830-AF8C43AC1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14325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React/Vite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AA98B6D-BE9F-4650-885E-86B96DC50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86100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A13F5C-5BBB-4C36-8FE0-6890BB01A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01942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DEFB934-A859-4415-BBB1-6A50D20F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57450"/>
            <a:ext cx="16764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EAF749F-CB61-432B-A095-B427AA5B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381250"/>
            <a:ext cx="16764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0A7402F-A3DE-4E4F-A23C-8B9DA177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24150"/>
            <a:ext cx="133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Railway Backend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33C40C0-FF07-49DF-9DC5-11B28009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4325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DED1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DED1FF"/>
                </a:solidFill>
                <a:latin typeface="Apple SD Gothic Neo"/>
                <a:ea typeface="Apple SD Gothic Neo"/>
                <a:cs typeface="Apple SD Gothic Neo"/>
              </a:rPr>
              <a:t>FastAPI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950D4FD-D47F-4DF5-ACAC-710596A9D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086100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44AB93F-36ED-45C0-9BF9-4558BDC2B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01942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63EA27C-33C4-4E5C-96A3-71DEBE1F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57450"/>
            <a:ext cx="16764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DBC026A-8220-458F-B6C3-B10C8B153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381250"/>
            <a:ext cx="16764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917C37F-A630-4331-B266-B60B5ACE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24150"/>
            <a:ext cx="133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Data·AI Layer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F46B0CC-4DF5-4C16-A3DB-0BE7828CC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4325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DED1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DED1FF"/>
                </a:solidFill>
                <a:latin typeface="Apple SD Gothic Neo"/>
                <a:ea typeface="Apple SD Gothic Neo"/>
                <a:cs typeface="Apple SD Gothic Neo"/>
              </a:rPr>
              <a:t>PostgreSQL / ArcFace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52899DF-6409-4407-AF56-0577D456C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86100"/>
            <a:ext cx="114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557D364-4F4E-4080-8012-8F07A56A9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1942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E145548-9B25-4B9D-B7CF-82D880E67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457450"/>
            <a:ext cx="16764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86E3789-2F1A-4E39-83B0-5A5B8115E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81250"/>
            <a:ext cx="16764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9CE3BB5-07F7-4BE6-84DD-F08D6667C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724150"/>
            <a:ext cx="1333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External API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5E68679-DDDE-45DC-B968-5D927AB44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143250"/>
            <a:ext cx="1333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Cloudinary · Kakao · Maps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5C83687-156A-4507-8149-919426826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953000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EXIF 추출 → 얼굴 임베딩 → 등록 인물 식별 → 활동 로그 자동 생성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059143B-70EF-4A30-A073-A685E388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E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0A0BAFC-E72D-4267-AA73-0593BBAA4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0"/>
            <a:ext cx="419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CLUSTER · 사진 한 장으로 인생을 기록하다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56620D9-A120-4906-B618-9248D8894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38900"/>
            <a:ext cx="38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7858771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E74088-6536-41C1-B958-8D89B956F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15D8EF-3A65-4084-ADE7-E861F15AB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9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C2C5E0-A764-4479-9F23-C1E123E9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C0BF4C-C36D-47C4-936B-AF581314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6CBBA2-C7E7-44BB-9221-4D00A1FA2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C7F651-04CC-4B9D-843C-B04ADD2C2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F0FED2-D182-41E0-8312-1D0872749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3A44B-3F0B-4698-B22B-2DE56466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B69D72-ED4C-4DC8-A3D0-D35331CBC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B3ABB6-2211-4878-9490-99451F10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01958B-8046-4368-83C8-51BABF53A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A24B60-05A9-497D-A46A-2FD0CAFDF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1A81B7-CC82-4FFA-8431-C104B0D4C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1B09EA-9E92-43BA-A37B-30FCC85E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39B7B4-6F7C-46CE-8BDA-3E340DB8A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C6F267-25D9-40CF-964F-5A29813A0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B1155B-F2D7-4064-8AE2-635688DE6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527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61FD55-BDD0-4393-9B6C-D85F572DB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2AFC8E-4AC1-4055-A905-F183383C9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291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24B492-1582-4E3F-809D-7080A92B2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C7BDDD-EB67-4A12-B04F-947F7E96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64373A-A381-4788-A84C-8DF3E3336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5715000"/>
            <a:ext cx="2667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defRPr>
            </a:pPr>
            <a:r>
              <a: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rPr>
              <a:t>PIPELINE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5FC045-1FE3-4CAF-82FF-762172907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CORE PIPELINE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FF710B-B17B-4E4B-8F2C-5B5F39E87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8650"/>
            <a:ext cx="9048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사진 1장이 기록이 되는 과정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FA8248-0C11-46F0-9091-4126896F1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066800"/>
            <a:ext cx="819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사용자 확인 전까지 DB에 저장하지 않는 것이 핵심입니다.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6CA9F9-62EC-44F0-9922-BC05499C8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52550"/>
            <a:ext cx="104394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B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828BB3-2CCA-471D-B6F1-F642B37FD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76400"/>
            <a:ext cx="10439400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0980"/>
            </a:srgbClr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19C9EB-D680-4132-9428-D6C11C46C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314700"/>
            <a:ext cx="8763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A3316C-7582-41FE-A0F1-7133ECB9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533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00A8AA-E262-4C9B-B539-1EBF5864D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1104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FC2FF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CFC2FF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8649CF-9D04-45AA-8721-CDBB8D85D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90850"/>
            <a:ext cx="1104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EXIF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F2B9F1-D564-4408-8CA4-E2F14490A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1638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GPS·촬영 날짜 추출</a:t>
            </a:r>
          </a:p>
          <a:p xmlns:a="http://schemas.openxmlformats.org/drawingml/2006/main">
            <a:pPr algn="ctr">
              <a:defRPr sz="1013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EXIF 없으면 독립 그룹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08A1F27-636B-43CE-92CE-471B0D141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533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CE5F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CDE42AB-1710-41E3-BFD0-190FE79ED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705100"/>
            <a:ext cx="1104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05FC69A-2923-4460-9B99-1AFE4F83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90850"/>
            <a:ext cx="1104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F0B43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2F0B43"/>
                </a:solidFill>
                <a:latin typeface="Aptos Mono"/>
                <a:ea typeface="Aptos Mono"/>
                <a:cs typeface="Aptos Mono"/>
              </a:rPr>
              <a:t>BATCH AI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64B2709-C2DE-4202-BB39-90DB19AD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924300"/>
            <a:ext cx="1638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등록 인물 임베딩과</a:t>
            </a:r>
          </a:p>
          <a:p xmlns:a="http://schemas.openxmlformats.org/drawingml/2006/main">
            <a:pPr algn="ctr">
              <a:defRPr sz="1013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사진을 AI 서버에 일괄 전송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B16B959-8EDD-48D1-9A30-DBE3FF703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533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CE5F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90FE00E-E5A6-4CDD-9E20-E6BFB278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05100"/>
            <a:ext cx="1104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98921A1-4A54-465C-9C28-72E9F1639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90850"/>
            <a:ext cx="1104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F0B43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2F0B43"/>
                </a:solidFill>
                <a:latin typeface="Aptos Mono"/>
                <a:ea typeface="Aptos Mono"/>
                <a:cs typeface="Aptos Mono"/>
              </a:rPr>
              <a:t>FACE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95641BC-0A93-4E6E-AED3-B2A82F71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24300"/>
            <a:ext cx="1638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self / matched /</a:t>
            </a:r>
          </a:p>
          <a:p xmlns:a="http://schemas.openxmlformats.org/drawingml/2006/main">
            <a:pPr algn="ctr">
              <a:defRPr sz="1013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unmatched 분류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B91C51-8E78-462E-8EBB-E85159820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33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CE5F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C50FFAF-7E6C-444D-9317-E65E0CA0F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05100"/>
            <a:ext cx="1104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301E5CC-D106-42D1-8BE6-FA0FA0A8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990850"/>
            <a:ext cx="1104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F0B43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2F0B43"/>
                </a:solidFill>
                <a:latin typeface="Aptos Mono"/>
                <a:ea typeface="Aptos Mono"/>
                <a:cs typeface="Aptos Mono"/>
              </a:rPr>
              <a:t>CLUSTER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762A577-FA4F-4089-9E21-37F2493CD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924300"/>
            <a:ext cx="1638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같은 날짜 + 200m</a:t>
            </a:r>
          </a:p>
          <a:p xmlns:a="http://schemas.openxmlformats.org/drawingml/2006/main">
            <a:pPr algn="ctr">
              <a:defRPr sz="1013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활동 단위로 묶음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74C6BA-BB8B-41DC-A623-212B82F75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33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CE5F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B741BDA-2D29-448F-AF38-9BBEF773C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05100"/>
            <a:ext cx="1104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383858B-08DE-4FA3-AB02-F70DF3C14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990850"/>
            <a:ext cx="1104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F0B43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2F0B43"/>
                </a:solidFill>
                <a:latin typeface="Aptos Mono"/>
                <a:ea typeface="Aptos Mono"/>
                <a:cs typeface="Aptos Mono"/>
              </a:rPr>
              <a:t>MATCH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ED6D9E3-379B-490A-B2B7-A0746F73B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924300"/>
            <a:ext cx="1638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exact / date_only /</a:t>
            </a:r>
          </a:p>
          <a:p xmlns:a="http://schemas.openxmlformats.org/drawingml/2006/main">
            <a:pPr algn="ctr">
              <a:defRPr sz="1013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none 판정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8F08551-611D-4831-80C1-B6004ECB8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533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FCEED8C-09D8-488E-A379-D3B53056B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705100"/>
            <a:ext cx="1104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FC2FF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CFC2FF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43647A5-57C7-4F1D-AC1F-1B907099A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990850"/>
            <a:ext cx="1104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CONFIRM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791CA7C-EF52-45B6-AA6B-08B9B79EF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924300"/>
            <a:ext cx="1638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13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사용자 확인 후</a:t>
            </a:r>
          </a:p>
          <a:p xmlns:a="http://schemas.openxmlformats.org/drawingml/2006/main">
            <a:pPr algn="ctr">
              <a:defRPr sz="1013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13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기록 확정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DD48A4C-F458-4E0F-A3FC-ED7E78AE0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66900"/>
            <a:ext cx="28003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B7C9423-D22D-4E11-9057-2AFA902B8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952625"/>
            <a:ext cx="24574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CFC2FF"/>
                </a:solidFill>
                <a:latin typeface="Aptos Mono"/>
                <a:ea typeface="Aptos Mono"/>
                <a:cs typeface="Aptos Mono"/>
              </a:defRPr>
            </a:pPr>
            <a:r>
              <a:rPr sz="713" b="1">
                <a:solidFill>
                  <a:srgbClr val="CFC2FF"/>
                </a:solidFill>
                <a:latin typeface="Aptos Mono"/>
                <a:ea typeface="Aptos Mono"/>
                <a:cs typeface="Aptos Mono"/>
              </a:rPr>
              <a:t>핵심 설계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1512BEA-FC08-4CF9-BCD6-56573856E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33600"/>
            <a:ext cx="2457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분석 결과를 먼저 보여주고 확인 후 확정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5CD6561-E1F8-49CA-AA8B-FCB3A698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619750"/>
            <a:ext cx="6953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사용자가 한 일은 사진 업로드 하나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98AB695-D351-4257-9D49-AB38E4A1C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E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6D0F2BC-06A1-42AF-99AD-8F063CBFB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0"/>
            <a:ext cx="419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CLUSTER · 사진 한 장으로 인생을 기록하다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058BDB7-F5D7-4D50-AFBA-276A2D0BC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38900"/>
            <a:ext cx="38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1102434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1EA4D3-4412-4FFB-9A1A-32E8E66D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BCD732-1026-4EC1-9CC4-7E22B5EB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9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D444D7-8324-43D1-9344-BBC2B29C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28512E-55F4-4563-AB98-B2CF6D91C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F4D14F-E74A-4DCB-A531-28AEFAF58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FB7BAE-E033-423B-8406-0796E8082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6C984E-35AD-44F1-B03E-B278954A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5DA928-2190-4CB7-A74B-467BD350C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FE24DB-9849-44C7-B935-A26D821B8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F773C7-E450-44FC-84E3-4A790BAE9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CF1644-0AAE-455A-89C5-CD4FF180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4605F6-CABC-4A1B-8027-FC400AD7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89335B-F03D-440A-9883-F4B600DC0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115C63-D969-4CC7-84DC-47B23596C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EF2F43-1E10-4B32-A8A1-819236F37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980001-7BAD-48DC-916B-EC3D2913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22EE1C-DF52-4994-9E35-2E7757F47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527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34EB4D-7790-46B2-B5D4-FFCE752C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2917ED-994B-49F6-9DD5-F6C7D9F6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291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FC2566-ED52-4FDD-8C92-BCE6EA48E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90BA7E-6A07-41C7-959A-AEF20A2DB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B1A457-3F18-45BE-8D1D-B59A4F52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5715000"/>
            <a:ext cx="2667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defRPr>
            </a:pPr>
            <a:r>
              <a: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rPr>
              <a:t>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23FB0F-6B96-4666-96BD-35E7D2149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DESIGN DECISION ①②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A2C2AE-BC56-46CE-AD01-40C79EAD2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8650"/>
            <a:ext cx="9048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기록의 진실성을 어떻게 코드로 구현했나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552F72-E7E8-4003-AC85-350D53ED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066800"/>
            <a:ext cx="819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두 결정 모두 사용자가 아닌 시스템이 기록의 기준을 잡는다는 철학에서 나왔습니다.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F73E5C-5527-46E0-8C68-5C8AE8A5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52550"/>
            <a:ext cx="104394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B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1116D2-620D-4EE7-B6DE-FC904775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47625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3CE2E2-85D4-4623-B530-2C2F711B8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76400"/>
            <a:ext cx="47625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B58CD4-AE33-4E2A-B80A-5F34FA616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924050"/>
            <a:ext cx="76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337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08DB9D5-5178-41ED-8B76-DD5175C0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962150"/>
            <a:ext cx="3333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Haversine 클러스터링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F903527-4B5A-4E37-A901-556269190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495550"/>
            <a:ext cx="114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CFC2FF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CFC2FF"/>
                </a:solidFill>
                <a:latin typeface="Aptos Mono"/>
                <a:ea typeface="Aptos Mono"/>
                <a:cs typeface="Aptos Mono"/>
              </a:rPr>
              <a:t>QUESTION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6CAF3DF-75B7-45EA-9EAE-7CD405D77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705100"/>
            <a:ext cx="323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ED1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DED1FF"/>
                </a:solidFill>
                <a:latin typeface="Apple SD Gothic Neo"/>
                <a:ea typeface="Apple SD Gothic Neo"/>
                <a:cs typeface="Apple SD Gothic Neo"/>
              </a:rPr>
              <a:t>같은 장소에서 10장을 찍어도 방문은 한 번인가?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828E23B-7116-4904-A898-0BFED664C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181350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CFC2FF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CFC2FF"/>
                </a:solidFill>
                <a:latin typeface="Aptos Mono"/>
                <a:ea typeface="Aptos Mono"/>
                <a:cs typeface="Aptos Mono"/>
              </a:rPr>
              <a:t>CODE DECISION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A41278B-63F3-4141-923F-F2F385B13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390900"/>
            <a:ext cx="323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ED1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DED1FF"/>
                </a:solidFill>
                <a:latin typeface="Apple SD Gothic Neo"/>
                <a:ea typeface="Apple SD Gothic Neo"/>
                <a:cs typeface="Apple SD Gothic Neo"/>
              </a:rPr>
              <a:t>같은 날짜 + 200m 이내 사진을 하나의 활동으로 묶음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C09BDD-9DDA-4269-9B29-376B8AA36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667250"/>
            <a:ext cx="3295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4FB2531-AAF1-4A17-847B-0DE1A9815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781550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중복 방문 기록 방지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3693538-E06A-4590-9602-C63AD6F65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52600"/>
            <a:ext cx="47625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F05010F-C6D6-4915-88E7-20DC5520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676400"/>
            <a:ext cx="47625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A6A02D6-C100-4EFC-9AB4-3E45933FE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924050"/>
            <a:ext cx="76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3375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6862C9D-4F29-44C7-AF35-1B0A1CA5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962150"/>
            <a:ext cx="3333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3단계 매칭 우선순위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66C1BC0-B5A7-450B-857E-1DF8E3379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95550"/>
            <a:ext cx="114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QUESTION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1EAADB5-E256-4971-AE8B-A415FB90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705100"/>
            <a:ext cx="323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계획된 일정이 실제로 이뤄진 것인가?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F5B10E0-8EF7-4613-A0D7-C1BBD3C3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81350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CODE DECISION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54A8E2C-C0DA-4728-B777-93AB27CB9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90900"/>
            <a:ext cx="323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exact → date_only → none 순서로 서버가 먼저 판정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B624235-6CD1-4B31-8262-EF63DAC2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667250"/>
            <a:ext cx="3295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5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8A66F90-3694-4260-AC69-6EC44600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781550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사용자 개입은 마지막에만 요청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8F2F8B3-7C7B-470A-8134-B73B818F0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E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DBDC9D8-B8A6-433B-A1E0-171233158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0"/>
            <a:ext cx="419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CLUSTER · 사진 한 장으로 인생을 기록하다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AF698E6-2325-4C96-9C3A-C96FD401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38900"/>
            <a:ext cx="38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846645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048CC7-259F-44F0-AEB1-562A5193B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D3E289-ED2B-42E9-AE89-556D706BB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9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B36A6C-E79A-47C2-801A-7D0ABCDF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9C61DF-87B0-4D5D-A6C5-258F23FB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BDEDC9-2120-485A-8305-DB6F45E35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6C6907-A16C-47F3-89DA-CA16981DC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42C905-02A9-4132-8D2D-3C4AA8A8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15FAE0-5597-460A-90BA-DC6F521B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FD6640-8614-4CA8-84B9-B0B0A3B8C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1B3680-8A2A-4B89-A274-5BCB37C5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D33922-FF69-4323-ADB1-EB6460A65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C96543-555F-4116-8C82-43E529DF3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8E3756-E290-4999-9980-5A8212EC3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A1E244-C217-4696-B0C3-A56A07C72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C52208-0E86-4BAB-8F85-9C080B75F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D0E47-F34A-48A0-9544-5664709F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C673E-FC65-477F-B67B-3882B5F57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527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DF7E33-F1F9-4D6B-8665-6B66BD0B8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A3025E-AC6B-4D63-A6B5-5ADD6DF0D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291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5F7700-6A22-4650-B4A5-7FF04A73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109AD1-8604-44BC-AB51-CFC18FC1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82F3D7-B068-4523-8C5D-D01393B8D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5715000"/>
            <a:ext cx="2667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defRPr>
            </a:pPr>
            <a:r>
              <a: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rPr>
              <a:t>DECISION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6177B4-506B-4B5F-9599-E7C5652D5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DESIGN DECISION ③④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3EEAE3-A2CC-495D-BE5C-B9A5EC0E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8650"/>
            <a:ext cx="9048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기록은 수정되는 게 아니라 쌓이는 것이어야 합니다.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9FC717-2E04-4D81-830F-E478AFBEC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066800"/>
            <a:ext cx="819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서버가 상태의 Source of Truth를 전담하고 관계 밀도의 왜곡을 막습니다.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73BEC2-5D7C-4853-8673-03EA1D36F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52550"/>
            <a:ext cx="104394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B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B91E76-C65F-4501-9603-B50D53AC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47625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5DB933-7B41-4D09-89D1-008FA19C1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76400"/>
            <a:ext cx="47625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54E895F-2825-4315-BF00-5280D9A15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924050"/>
            <a:ext cx="76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3375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3D6E4C-E76C-4B50-9391-E58EF3F2E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962150"/>
            <a:ext cx="3333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단방향 State Machine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F15106D-1241-448D-B1D6-A704794C8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495550"/>
            <a:ext cx="114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QUESTION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50400E-CCD5-4588-ADEB-E170388B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705100"/>
            <a:ext cx="323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완료된 기록이 다시 계획 상태로 돌아가도 되는가?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121E5B-D842-47A7-8A11-C343500E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181350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CODE DECISION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68CFBD-C858-4C91-9EDE-A80E8AC1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390900"/>
            <a:ext cx="323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Planned → Completed 단방향 전이, 미래 완료 차단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9DF21C4-FFE1-4D3F-9BC4-C8F71C434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667250"/>
            <a:ext cx="3295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5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B642F47-7E01-471D-BB52-DC45EF51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781550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과거 기록의 임의 변경 차단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FDE85BC-C316-4D99-BFA3-F6E0A873D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52600"/>
            <a:ext cx="47625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02B5EE5-E0D9-408A-9E37-A127317FA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676400"/>
            <a:ext cx="47625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B08DE13-FD4A-470C-8546-BD808C03D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924050"/>
            <a:ext cx="76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337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3289F0B-DB88-4BEC-A804-12609DBE2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962150"/>
            <a:ext cx="3333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중복 카운트 방지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6D83625-AC99-4F96-8C9D-F31D3268F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95550"/>
            <a:ext cx="114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CFC2FF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CFC2FF"/>
                </a:solidFill>
                <a:latin typeface="Aptos Mono"/>
                <a:ea typeface="Aptos Mono"/>
                <a:cs typeface="Aptos Mono"/>
              </a:rPr>
              <a:t>QUESTION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7A8B9D1-F226-4466-B4DA-4E246FC01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705100"/>
            <a:ext cx="323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ED1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DED1FF"/>
                </a:solidFill>
                <a:latin typeface="Apple SD Gothic Neo"/>
                <a:ea typeface="Apple SD Gothic Neo"/>
                <a:cs typeface="Apple SD Gothic Neo"/>
              </a:rPr>
              <a:t>같은 사람과 찍은 10장을 10회 만남으로 볼 것인가?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BB5B5E1-F926-4DFE-BAF5-BD290CEA7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81350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CFC2FF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CFC2FF"/>
                </a:solidFill>
                <a:latin typeface="Aptos Mono"/>
                <a:ea typeface="Aptos Mono"/>
                <a:cs typeface="Aptos Mono"/>
              </a:rPr>
              <a:t>CODE DECISION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1C64E92-6269-4BC8-A92E-4EFCFE524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90900"/>
            <a:ext cx="323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ED1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DED1FF"/>
                </a:solidFill>
                <a:latin typeface="Apple SD Gothic Neo"/>
                <a:ea typeface="Apple SD Gothic Neo"/>
                <a:cs typeface="Apple SD Gothic Neo"/>
              </a:rPr>
              <a:t>동일 날짜 내 인물 데이터를 Set 연산으로 집계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5C2AC63-F582-48F7-A327-79A90E322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667250"/>
            <a:ext cx="3295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60BE7D9-3F28-4A31-B9B4-922FEAE37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781550"/>
            <a:ext cx="2952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관계 밀도 왜곡 방지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5C7D2F8-D7CF-478C-9BDF-364CA068C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E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FCF9799-4B02-4D91-8F86-783D2F1C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0"/>
            <a:ext cx="419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CLUSTER · 사진 한 장으로 인생을 기록하다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087C157-F015-4690-91E6-C158B0E1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38900"/>
            <a:ext cx="38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4848667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42E76A-6F1F-4C50-BA0C-CBB578A6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0AA502-6368-4959-AAB0-A8E70821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9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770685-9FE9-4E88-8E46-756846B7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61B3A4-94CA-43DA-B3B4-B7BF45B1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4E240A-38B1-49C1-A7EF-3E9675B64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F3EDB4-F283-438E-BF86-04FCB6457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2E9D9B-2504-480B-B8DF-5CAF00049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54CFBE-6B89-4CCC-AA02-B1B8A5CBD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359625-0156-4510-89AB-286AA23A6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330E7C-3BC9-4A1F-94A7-18CAEC9A0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58D6BE-D139-47C2-8AF7-0D6857CC3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BCB4C6-8765-4579-AD22-E6A9BEFB6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79E2C8-E8C9-4FFB-A673-F7E09F7F7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9A53F6-7AE8-4F58-96BA-AB90F4251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6CC166-1CB9-4E44-9345-1B2BBE51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839104-608C-43B5-816D-94839C10A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DAA6A4-7608-4BEC-B5C6-EED5C9C96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527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AD35EC-B591-43E6-B69F-1B311B027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D2C77A-D91E-4002-AAC2-37697F9E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291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DA4872-EBB0-40EE-9729-C62DFA23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6F4E2D-A650-4CA3-8DAE-6749B3E5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DF4502-1210-46D1-8A6B-0F101EDC5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5715000"/>
            <a:ext cx="2667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defRPr>
            </a:pPr>
            <a:r>
              <a: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rPr>
              <a:t>RESULT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0C6903-111B-474D-986F-15C2DB27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IMPLEMENTATION RESULT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411E69-3745-432E-BD24-AEF2E71E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8650"/>
            <a:ext cx="9048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CLUSTER는 현재 실배포 상태입니다.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8CA59C-C18C-45E6-AB2D-B5BEDC2C7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066800"/>
            <a:ext cx="819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5개 도메인과 Swagger 문서화까지 구현되어 재현 가능성과 확장 가능성을 확보했습니다.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55B763-E634-44AE-A2AB-0FDDEAACA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52550"/>
            <a:ext cx="104394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B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E96515-0D64-4ACB-9A7F-E75E3830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790700"/>
            <a:ext cx="32004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826381-2451-4005-9044-D6534BA4F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52650"/>
            <a:ext cx="3200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FC2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CFC2FF"/>
                </a:solidFill>
                <a:latin typeface="Aptos Mono"/>
                <a:ea typeface="Aptos Mono"/>
                <a:cs typeface="Aptos Mono"/>
              </a:rPr>
              <a:t>LIVE SERVICE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37F50C-9535-4550-884A-D199CC63A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90800"/>
            <a:ext cx="3200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Vercel · Railway · HuggingFace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3EF1E1-541C-4408-8B12-4DDCA30D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28950"/>
            <a:ext cx="3200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EDE7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EDE7FF"/>
                </a:solidFill>
                <a:latin typeface="Apple SD Gothic Neo"/>
                <a:ea typeface="Apple SD Gothic Neo"/>
                <a:cs typeface="Apple SD Gothic Neo"/>
              </a:rPr>
              <a:t>실제 동작하는 코드로 구현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2EC9DC0-BA34-4B70-B8E5-098443C24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76450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992C60-85EE-4181-B206-70067D21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E3FCBB7-407F-4C8B-BAE4-37C1DEEE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AUTH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47F5989-BC85-4CC7-8429-DC1C32B4C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86050"/>
            <a:ext cx="1200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JWT 인증</a:t>
            </a:r>
          </a:p>
          <a:p xmlns:a="http://schemas.openxmlformats.org/drawingml/2006/main">
            <a:pPr algn="ctr">
              <a:defRPr sz="975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프로필 임베딩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7E6030F-1196-46F3-A030-F3CFD516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305300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650836-7494-4190-93FD-529403A0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229100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7D23400-BD82-43CA-A1A1-3E45E826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49580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PEOPLE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5D262CE-518A-4760-BCDC-5A60C257E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14900"/>
            <a:ext cx="1200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인물 등록</a:t>
            </a:r>
          </a:p>
          <a:p xmlns:a="http://schemas.openxmlformats.org/drawingml/2006/main">
            <a:pPr algn="ctr">
              <a:defRPr sz="975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관계 상태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BDD7274-8776-4DC8-AC32-EA78F7892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305300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323C960-68A8-47AB-98F0-C11E45297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229100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3288038-04C0-40C7-8273-439AA84EC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49580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PLACE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0D6D2CD-DF5C-439A-BD86-FFAAF2EEF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914900"/>
            <a:ext cx="1200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장소 검색</a:t>
            </a:r>
          </a:p>
          <a:p xmlns:a="http://schemas.openxmlformats.org/drawingml/2006/main">
            <a:pPr algn="ctr">
              <a:defRPr sz="975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방문 시각화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ECD148A-BEAC-4E7D-AB1E-E9F440997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05300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F76AE3D-31A6-44B5-88A7-CCC96C6AF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29100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CF94F32-86B2-4BB1-91C2-B45803430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9580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SCHEDULE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972F988-CCDF-4CAF-8A4A-CB104FBA3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914900"/>
            <a:ext cx="1200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일정 관리</a:t>
            </a:r>
          </a:p>
          <a:p xmlns:a="http://schemas.openxmlformats.org/drawingml/2006/main">
            <a:pPr algn="ctr">
              <a:defRPr sz="975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Completed 전환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6C14349-83EE-4426-8E3B-E06FA9733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076450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7B4DEE2-CD75-42F6-BDFE-36A681618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000250"/>
            <a:ext cx="1619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5FF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D0D7430-63DD-493C-A9B1-4EED0B3C1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2669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150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ACTIVITY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D889E85-B341-4C55-A425-8C02EA56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686050"/>
            <a:ext cx="1200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EXIF·그룹화</a:t>
            </a:r>
          </a:p>
          <a:p xmlns:a="http://schemas.openxmlformats.org/drawingml/2006/main">
            <a:pPr algn="ctr">
              <a:defRPr sz="975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ActivityLog 생성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51DC6D5-2A64-4E6A-9CFE-A9B831C9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38550"/>
            <a:ext cx="3619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30DEC69-CDB3-49D5-BBB8-C62C09878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43325"/>
            <a:ext cx="3238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Swagger API 명세서 완성 · 전체 엔드포인트 문서화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0D58A06-7CBF-4473-BAD8-93D70933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E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81F0188-AE54-4379-A4D8-DF6197E6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0"/>
            <a:ext cx="419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CLUSTER · 사진 한 장으로 인생을 기록하다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5948FB7-B10A-444D-AC90-B40FD1536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38900"/>
            <a:ext cx="38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00097375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83A104-AA8D-44E5-82E5-3414410A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AFDCE7-6BA2-4490-8ED3-5690E02E6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9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C280DF-9E04-4968-9235-6D1844CAE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99E595-766A-4ADA-9A3D-70BB0A609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94D2A4-F3B5-4DB2-9F41-D6B0A6F3E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2B3122-605E-4D91-AC78-1201A22E5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B2D134-5A69-4A38-97ED-776929B9A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7B9D60-9DA8-486F-BB2A-813B42225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4FCE58-2E3B-437C-8FBF-59E39DDB4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0DBF13-D8F0-4FC4-AC64-F62B8D433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604571-10BD-411E-A932-BE3E8C000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7AA391-05F7-4C47-B8E7-AF9D9A464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AD5C8F-193A-4ED5-B998-57DBD2F08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34B448-FC1F-4A74-8C68-695C8109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1E5E5C-DA20-4ED0-8C37-8162259C3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808D92-7CFA-4456-BADA-43F99AC42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45289E-36C5-4567-A836-9DE4C7B43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527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234F1A-234A-41D9-ABD6-7DC8F8971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3158E7-F1FC-4497-BF5D-75C5BC6AE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291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EF81D9-8485-456A-B249-767DF162B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E56ADF-6CDC-4E53-AFC9-8FC163AAB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C386B7-2260-4CBB-B5BA-765F0748A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5715000"/>
            <a:ext cx="2667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defRPr>
            </a:pPr>
            <a:r>
              <a: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rPr>
              <a:t>DEMO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B25AE6-6170-4EB7-BAE6-2C374EC54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DEMO FLOW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00A510-8E5C-4819-9122-0AE401ED2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8650"/>
            <a:ext cx="9048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사용자가 한 일은 사진 업로드 하나였습니다.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1DA96F-7B8E-4676-8214-94153A76D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066800"/>
            <a:ext cx="819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People · Calendar · Map에서 자동 구조화 결과를 확인합니다.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6DF59A-4FE0-4098-92F1-D84994E9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52550"/>
            <a:ext cx="104394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B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C5C2E4-6C04-48FD-8848-3E3FA9397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543050"/>
            <a:ext cx="6743700" cy="3581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F74D57-8C83-4F17-8EE4-DFEC24125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466850"/>
            <a:ext cx="6743700" cy="3581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3801bd8c60449d"/>
          <a:srcRect xmlns:a="http://schemas.openxmlformats.org/drawingml/2006/main" l="0" t="32014" r="0" b="320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76600" y="1752600"/>
            <a:ext cx="5638800" cy="30099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03E2B3-9CBF-4588-B4F8-363F1AE5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895600"/>
            <a:ext cx="87630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2EEA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464a44dd5e4514">
            <a:extLst>
              <a:ext uri="{96DAC541-7B7A-43D3-8B79-37D633B846F1}">
                <asvg:svgBlip xmlns:asvg="http://schemas.microsoft.com/office/drawing/2016/SVG/main" r:embed="R229db9861dda4fe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943600" y="3067050"/>
            <a:ext cx="304800" cy="304800"/>
          </a:xfrm>
          <a:prstGeom xmlns:a="http://schemas.openxmlformats.org/drawingml/2006/main" prst="rect">
            <a:avLst/>
          </a:prstGeom>
        </p:spPr>
      </p:pic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8E304C6-25FA-4470-AD8D-B97BD6C76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67350"/>
            <a:ext cx="1428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35B9DC4-547B-42C9-945C-B875E17BB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562600"/>
            <a:ext cx="400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0:00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39A4AF-67A9-4278-B9DD-F947EA294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543550"/>
            <a:ext cx="742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로그인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7B8E30F-69F4-4554-9BAA-9DD18B4E6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467350"/>
            <a:ext cx="1428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70BAE70-008F-46D7-AD6D-AB0D4CCD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562600"/>
            <a:ext cx="400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0:10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4B3EE99-163A-4C64-AEC4-B57312611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543550"/>
            <a:ext cx="742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People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609C6A-2BA4-47CD-B602-0487EA52C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5467350"/>
            <a:ext cx="1428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789B2E3-C315-46A6-AA1D-369D67D6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562600"/>
            <a:ext cx="400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CFC2FF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CFC2FF"/>
                </a:solidFill>
                <a:latin typeface="Aptos Mono"/>
                <a:ea typeface="Aptos Mono"/>
                <a:cs typeface="Aptos Mono"/>
              </a:rPr>
              <a:t>0:25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63F6421-AA1E-4728-BEBD-5187451E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5543550"/>
            <a:ext cx="742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업로드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42BDDF-33CF-4008-BBD2-43783DF01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467350"/>
            <a:ext cx="1428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7211978-F0D3-4E81-A265-90605CFB3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562600"/>
            <a:ext cx="400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0:50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03E10F2-A2E1-438E-8AF2-6B7D0701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43550"/>
            <a:ext cx="742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Calendar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BD48027-B1EF-42B7-ACCC-2D980BAB8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467350"/>
            <a:ext cx="1428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B0DAC92-51CB-4D57-B2C1-689F2AAC8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5562600"/>
            <a:ext cx="400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1:10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6F052F4-5BEA-4ACA-8B7F-D121EF391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5543550"/>
            <a:ext cx="742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Map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9C42240-DD8F-4330-A598-DCA0C7865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E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613E51D-95DC-4E13-B3F1-69029F24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0"/>
            <a:ext cx="419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CLUSTER · 사진 한 장으로 인생을 기록하다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2C12449-64EC-4C62-B53E-314F0D981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38900"/>
            <a:ext cx="38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84168981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22BB9F-BCEC-4553-8713-FDBD7178C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8E29F2-0D32-4673-AE83-75FD4031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9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ED9DBA-87AA-4C64-A421-21C08AFD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D41C8F-C41B-4575-A0A2-764C5B70D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9804AD-17D2-446F-81D0-BCD5D736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433C03-BB33-42DD-B2A0-384B0C501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A035EE-3D2B-45AB-AE37-06290472C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075FEC-6EF2-4BD6-9C91-685E6AC7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B1588C-EFBC-464A-83B5-E86006E1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9F5802-805B-48D4-8DD7-BC9DBCBA3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EAF2C2-757B-4287-A6D4-93F30974B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A96EF6-D222-41F7-9E67-8DAAEBB65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9298D5-1C15-4291-8682-59B9811D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CCEF13-069A-4FFD-8CFC-85AA5C326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D8EB0F-57C2-48A9-8325-7E34C7DBA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C6AE34-9484-4B8B-B648-E616A57BD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FD921D-23D4-486B-95F6-5C5CEF48B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527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57DF59-B370-43AE-A866-0E99FB318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91AF83-3956-4496-A5AB-BA6098A6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291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7048FF-C14A-458F-89D9-9636BBA2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D4642B-90FA-4E2F-98A1-CDC6F3B1B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DAF7EF-34FF-4E47-A1D5-21B11412D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5715000"/>
            <a:ext cx="2667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defRPr>
            </a:pPr>
            <a:r>
              <a: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rPr>
              <a:t>QR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1B3FF2-C309-4CDD-ADF2-2B23C2035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800100"/>
            <a:ext cx="56388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80599D-4CC7-4D5A-8313-B6236BB71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723900"/>
            <a:ext cx="56388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e16fd1e6824d17"/>
          <a:stretch xmlns:a="http://schemas.openxmlformats.org/drawingml/2006/main"/>
        </p:blipFill>
        <p:spPr>
          <a:xfrm xmlns:a="http://schemas.openxmlformats.org/drawingml/2006/main">
            <a:off x="4016256" y="1028700"/>
            <a:ext cx="4159489" cy="4191000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08296F-2B33-4BB3-BF8F-7FDECF530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858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5F2E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5F2EEA"/>
                </a:solidFill>
                <a:latin typeface="Apple SD Gothic Neo"/>
                <a:ea typeface="Apple SD Gothic Neo"/>
                <a:cs typeface="Apple SD Gothic Neo"/>
              </a:rPr>
              <a:t>www.cluster-app.kr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79FC48-5053-4D69-BBDD-D5F7F358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858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지금 바로 접속하실 수 있습니다</a:t>
            </a:r>
          </a:p>
        </p:txBody>
      </p:sp>
    </p:spTree>
    <p:extLst>
      <p:ext uri="{BB962C8B-B14F-4D97-AF65-F5344CB8AC3E}">
        <p14:creationId xmlns:p14="http://schemas.microsoft.com/office/powerpoint/2010/main" val="45057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C0545B6-220B-4454-807D-5408FEE0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602EDF-A121-4AF2-8D1D-13D42E2A9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9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DC2E59-9046-4AC2-ADDA-706FC43A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E94604-CBF3-4E3D-B3D4-3ECC12D1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B4B043-5862-490D-A63F-187B6EF99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985323-87C5-47F9-8E04-934E7DA9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EF7271-AAF0-459C-B44F-32BD7973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D3B0B4-BA3F-4C22-881A-E3615F1CF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300583-891B-4E37-AC06-7BBBFB9C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212036-E0D5-4711-97A6-F039EE113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28905D-77BB-4FB8-9E2F-468D17A79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74E4A6-FC17-4E30-BB12-C9CEEC21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DB1DB1-1741-4EBE-A60E-F6E9587B5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D65F25-460B-4704-93C3-A88D13B6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8C2823-70FE-496F-87A4-8AE9C750D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58F336-0C04-4A41-BBEB-3F865A550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C1499-C409-4DB3-B3B6-92165EEE5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527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2CCB84-55F0-48E6-B8F4-94D1C28F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B0D80A-7745-4E06-941B-5978ADA2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291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EE6674-7BC9-49B1-921B-5EA0E8C8C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CFFF1C-0DEC-472D-96AD-EBB2F74BC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7CFDC3-3BF9-4A26-BC17-5E67B7B9B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5715000"/>
            <a:ext cx="2667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defRPr>
            </a:pPr>
            <a:r>
              <a: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rPr>
              <a:t>LIMIT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A0A71B-E5C3-4C2A-87A3-E768B6AFA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LIMITATIONS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D43B30-9F31-46BE-A585-041F40DB3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8650"/>
            <a:ext cx="9048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개발을 마치고 세 가지 한계를 직면했습니다.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4F0471-0970-4212-8A2A-9D64D1E52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066800"/>
            <a:ext cx="819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8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기획 의도와 실제 구현 사이의 괴리입니다.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83EA7B-F549-4435-B19B-3D9E79A4C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52550"/>
            <a:ext cx="104394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B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46CD15-4306-4064-A54D-3997ADB1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62100"/>
            <a:ext cx="10210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3BCCBB-9E75-4823-8505-F69D8A58B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14500"/>
            <a:ext cx="666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번호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D165F2-11E4-4334-A587-7D37D321F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714500"/>
            <a:ext cx="2095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한계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7BD7DD-45DA-4B6E-8BCA-A4F97C57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14500"/>
            <a:ext cx="2476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기획 의도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E259DDE-54A7-4A0E-9FC3-6427CE8EB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714500"/>
            <a:ext cx="2571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실제 문제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709F0BA-D916-4AB2-8C7F-D8049F8A3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19300"/>
            <a:ext cx="102108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FF"/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7C1A0C-504A-4795-8DAB-110CEFB6E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305050"/>
            <a:ext cx="666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F2E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5F2EEA"/>
                </a:solidFill>
                <a:latin typeface="Apple SD Gothic Neo"/>
                <a:ea typeface="Apple SD Gothic Neo"/>
                <a:cs typeface="Apple SD Gothic Neo"/>
              </a:rPr>
              <a:t>①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DBA62C9-CE7F-4B15-9625-6A89C0E7D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228850"/>
            <a:ext cx="209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얼굴 임베딩 정확도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B89270-0A0C-4A75-AA32-DCBC6DED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28850"/>
            <a:ext cx="247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ArcFace로 인물 식별 자동화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86646F7-33AB-4CDF-8E46-FAD2357C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2571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threshold 실사용자 검증 부족 → 오인식 위험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090DF60-0A9F-4A80-A2C9-454ABD89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76600"/>
            <a:ext cx="102108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7748748-DB7D-47C2-B171-12C2EF6FF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62350"/>
            <a:ext cx="666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F2E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5F2EEA"/>
                </a:solidFill>
                <a:latin typeface="Apple SD Gothic Neo"/>
                <a:ea typeface="Apple SD Gothic Neo"/>
                <a:cs typeface="Apple SD Gothic Neo"/>
              </a:rPr>
              <a:t>②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83025CF-C369-41AA-9E93-4C74B4E16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486150"/>
            <a:ext cx="209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자동화의 전제 조건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AE109D-758B-4B93-8677-1927EAC8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86150"/>
            <a:ext cx="247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사진 업로드만으로 자동 기록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97DA273-ABF2-411B-A3C4-B9F35AF0A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486150"/>
            <a:ext cx="2571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People·Place·Schedule 선등록 필요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CC569C9-1981-405B-A897-37F3EB4CC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33900"/>
            <a:ext cx="102108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FF"/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1959CBE-017E-40E8-B462-8393C3DB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19650"/>
            <a:ext cx="666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F2E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5F2EEA"/>
                </a:solidFill>
                <a:latin typeface="Apple SD Gothic Neo"/>
                <a:ea typeface="Apple SD Gothic Neo"/>
                <a:cs typeface="Apple SD Gothic Neo"/>
              </a:rPr>
              <a:t>③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39B5AB8-0B03-4F0A-BC43-006E02925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743450"/>
            <a:ext cx="209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EXIF 의존성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9CA13C6-64AB-4E48-9676-25DDC210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743450"/>
            <a:ext cx="247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GPS·촬영 시간 기반 자동 매칭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AFDBD3D-F972-4C04-9035-0A9C436E9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743450"/>
            <a:ext cx="2571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SNS 공유 사진은 EXIF가 없는 경우가 많음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D7A81FC-3566-494A-BD20-BC75A901E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E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4E5460C-E227-4759-A6D8-23E516548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0"/>
            <a:ext cx="419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CLUSTER · 사진 한 장으로 인생을 기록하다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903253F-F49B-4056-8CA6-B4EAE8B09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38900"/>
            <a:ext cx="38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5348364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A7A137-D79D-4D3B-BDC8-1F3DB91CF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BCA54F-0A2F-4AA3-B7BB-3E75D39E2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9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BCD843-02D9-432A-8FEC-6B0DF548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8631C4-F6BF-4EBB-AEDA-4DCB7D0C1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09D3F4-ADBC-4BEE-B343-41A6F56D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E7189B-967B-402F-9066-150DBFB13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73B8E1-1CF3-4DD0-A593-ACA2D657B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ACB7DB-352A-4158-8013-4DB4A9C16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AEE0C0-539E-4D4F-A80A-3041CEECE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00DDCA-FAE3-421C-9744-41DD8DA5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CD8E49-1B04-4862-9D5A-5AE64B80D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40644A-C616-4629-974B-7EEBCEB8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B42954-D170-4E12-9757-B06CA4554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0D6955-2127-469F-B757-F06CAB1EA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DD019B-3B8F-47FA-9F8F-C68B79F46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925986-D9FB-436E-AEAA-A9C914C90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DF281D-C272-4611-96ED-CFDEBC27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527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D4C342-1C37-48A9-9308-A0275E03B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8A35DB-494E-4CD3-82B7-6C4DA50F4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291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DECABC-EC2A-4EB4-9F0C-BD2BFA901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606FD4-292B-4715-88E6-12717B30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273E61-6944-414D-BCB6-65D788909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5715000"/>
            <a:ext cx="2667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defRPr>
            </a:pPr>
            <a:r>
              <a: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rPr>
              <a:t>ROADMAP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FCC857-1D2B-4BCB-88FE-C60177EF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ROADMAP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BE3C89-BD37-477D-833B-7EA02E9B4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8650"/>
            <a:ext cx="9048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진짜 자동화는 사용자가 이미 쓰고 있는 데이터에서 시작합니다.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47B83E-F00F-4CE4-BDAC-7E7249F3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52550"/>
            <a:ext cx="104394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CDB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6FDAF5-DE7E-4116-9915-282D2D8D6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19300"/>
            <a:ext cx="28575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8F756F-A575-4D73-B3FD-98DD9665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43100"/>
            <a:ext cx="28575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FEC545-07F7-429E-9865-70E495401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5F2E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5F2EEA"/>
                </a:solidFill>
                <a:latin typeface="Apple SD Gothic Neo"/>
                <a:ea typeface="Apple SD Gothic Neo"/>
                <a:cs typeface="Apple SD Gothic Neo"/>
              </a:rPr>
              <a:t>①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6B7320F-3152-450A-88F1-37D98A86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9560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인식 정확도 고도화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70A4FA8-BD9F-4671-875B-3072CB30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562350"/>
            <a:ext cx="2057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실사용자 사진 기반 threshold 튜닝</a:t>
            </a:r>
          </a:p>
          <a:p xmlns:a="http://schemas.openxmlformats.org/drawingml/2006/main">
            <a:pPr algn="ctr">
              <a:def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오인식 수정 피드백 루프</a:t>
            </a:r>
          </a:p>
          <a:p xmlns:a="http://schemas.openxmlformats.org/drawingml/2006/main">
            <a:pPr algn="ctr">
              <a:def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상용 Face API 검토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0FF992-4748-40AF-B1D8-070451EAF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19300"/>
            <a:ext cx="28575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2035F76-54CD-40E5-947E-0D69093E5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43100"/>
            <a:ext cx="28575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E97D10-9597-442C-A4DE-4746FC6CD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47900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②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8BE73F0-F85E-47C0-998E-0424D852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9560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온보딩 재설계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597A56-0DEC-45C0-8C2E-FDF4FB525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562350"/>
            <a:ext cx="2057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DDD2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DDD2FF"/>
                </a:solidFill>
                <a:latin typeface="Apple SD Gothic Neo"/>
                <a:ea typeface="Apple SD Gothic Neo"/>
                <a:cs typeface="Apple SD Gothic Neo"/>
              </a:rPr>
              <a:t>연락처·사진·캘린더 최초 1회 연동</a:t>
            </a:r>
          </a:p>
          <a:p xmlns:a="http://schemas.openxmlformats.org/drawingml/2006/main">
            <a:pPr algn="ctr">
              <a:defRPr sz="1050" b="0">
                <a:solidFill>
                  <a:srgbClr val="DDD2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DDD2FF"/>
                </a:solidFill>
                <a:latin typeface="Apple SD Gothic Neo"/>
                <a:ea typeface="Apple SD Gothic Neo"/>
                <a:cs typeface="Apple SD Gothic Neo"/>
              </a:rPr>
              <a:t>People·Place·Schedule 자동 생성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8B1365E-C795-46E0-850C-ACE9DC91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19300"/>
            <a:ext cx="28575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BDE0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4309F45-09D6-489F-AF7E-F202C430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43100"/>
            <a:ext cx="28575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3C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758660-F2DF-49F5-9460-2C0FA01A2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47900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5F2E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5F2EEA"/>
                </a:solidFill>
                <a:latin typeface="Apple SD Gothic Neo"/>
                <a:ea typeface="Apple SD Gothic Neo"/>
                <a:cs typeface="Apple SD Gothic Neo"/>
              </a:rPr>
              <a:t>③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17EBDE5-5EFC-4108-9FED-F4E736354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9560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EXIF 보완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3FCAA76-D435-4462-9ED2-DB8EE9458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562350"/>
            <a:ext cx="2057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EXIF 없는 사진 최소 입력 UI</a:t>
            </a:r>
          </a:p>
          <a:p xmlns:a="http://schemas.openxmlformats.org/drawingml/2006/main">
            <a:pPr algn="ctr">
              <a:def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날짜만 입력해도 일정 매칭 가능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2974612-D9CC-4B6C-92FF-6937FF815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467350"/>
            <a:ext cx="800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76508E4-9ADA-4796-B982-BDF4FDF0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581650"/>
            <a:ext cx="762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사용자의 기존 데이터를 활용해야 진짜 자동화가 시작됩니다.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13DF17E-F640-4B6E-8B87-42B1341D4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E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C3B6BDB-6459-4575-B7F7-491595772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77000"/>
            <a:ext cx="419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75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CLUSTER · 사진 한 장으로 인생을 기록하다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4B5A58C-7421-4ED3-A03D-31406EE4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38900"/>
            <a:ext cx="381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44669022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CEAEAB-17B2-4384-9C94-1AF66A565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8FDEEF-7BB7-400E-A70D-D2CDC2BCF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09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0B4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7BF342-9EF5-47C4-A4CF-D17AC2F72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760B02-0600-48FE-8C11-ECC7250C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94FFC1-0065-42C7-BC87-081DC8940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1EF6DB-6928-4797-BE54-919224E2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1BA0A1-8820-42A4-B9A2-CDAE4B74A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89C981-119E-4DDC-AF4E-17300A70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70CE43-110C-4C00-9A6C-DE3F215E4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ACF54B-B143-44EF-B76F-47CBBCA16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3CE16E-3AE6-4C25-9BD5-97FD5956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244D00-B6A7-4731-8BB7-6C4BF853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87254D-B12C-404E-8216-E6B9492A4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359C0D-860D-47F5-867C-5F517E53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6668" cy="579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06A796-43E7-4472-BD1B-A08243644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76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47ED1F-268F-4F63-BEA1-EAAF1B5F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871B1F-B340-4DF4-B37A-22B590915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527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C4138E-187E-44F9-9E77-9C25DBD8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CE8712-601B-4DFF-80BE-1B0500BA8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291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9486BB-4D4C-4061-BC31-5E7AE8418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673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EFA3D9-969D-4EFA-A285-C0C2F508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0"/>
            <a:ext cx="106299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4D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C701A5-E59C-497C-ACE4-A5159EA59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5715000"/>
            <a:ext cx="2667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defRPr>
            </a:pPr>
            <a:r>
              <a:rPr sz="638" b="1">
                <a:solidFill>
                  <a:srgbClr val="EEE8FF"/>
                </a:solidFill>
                <a:latin typeface="Aptos Mono"/>
                <a:ea typeface="Aptos Mono"/>
                <a:cs typeface="Aptos Mono"/>
              </a:rPr>
              <a:t>CLOSE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521557-6497-49E3-853B-7647FF42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81050"/>
            <a:ext cx="103632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1765"/>
            </a:srgbClr>
          </a:solidFill>
          <a:ln xmlns:a="http://schemas.openxmlformats.org/drawingml/2006/main" w="9525">
            <a:solidFill>
              <a:srgbClr val="D7CDB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1573AE-E712-45BC-9B11-DB5DB955F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23950"/>
            <a:ext cx="12192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5F2EEA"/>
                </a:solidFill>
                <a:latin typeface="Aptos Mono"/>
                <a:ea typeface="Aptos Mono"/>
                <a:cs typeface="Aptos Mono"/>
              </a:defRPr>
            </a:pPr>
            <a:r>
              <a:rPr sz="3600" b="1">
                <a:solidFill>
                  <a:srgbClr val="5F2EEA"/>
                </a:solidFill>
                <a:latin typeface="Aptos Mono"/>
                <a:ea typeface="Aptos Mono"/>
                <a:cs typeface="Aptos Mono"/>
              </a:rPr>
              <a:t>CLUSTER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C659B2-A0A2-4949-89B2-29F3792E7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62150"/>
            <a:ext cx="3162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F2E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C19677-F14A-4257-A173-CEDAF3F30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95550"/>
            <a:ext cx="12192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1">
                <a:solidFill>
                  <a:srgbClr val="171321"/>
                </a:solidFill>
                <a:latin typeface="Apple SD Gothic Neo"/>
                <a:ea typeface="Apple SD Gothic Neo"/>
                <a:cs typeface="Apple SD Gothic Neo"/>
              </a:rPr>
              <a:t>작년 이맘때 누구와 어디 있었나요?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740A90-5504-4AE8-80FC-3F749CE3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95650"/>
            <a:ext cx="1219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People — 누구와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90AC4B-8021-4A25-BDAB-63B0EB6D2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733800"/>
            <a:ext cx="1219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Place — 어디서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4B0E7C-D937-4B22-9338-73EE1D4B6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171950"/>
            <a:ext cx="1219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F0B43"/>
                </a:solidFill>
                <a:latin typeface="Apple SD Gothic Neo"/>
                <a:ea typeface="Apple SD Gothic Neo"/>
                <a:cs typeface="Apple SD Gothic Neo"/>
              </a:rPr>
              <a:t>Calendar — 언제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1ACB56-1ACF-478C-B3C6-FC2F428F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76800"/>
            <a:ext cx="1219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76070"/>
                </a:solidFill>
                <a:latin typeface="Apple SD Gothic Neo"/>
                <a:ea typeface="Apple SD Gothic Neo"/>
                <a:cs typeface="Apple SD Gothic Neo"/>
              </a:rPr>
              <a:t>사진 한 장이 10년 뒤의 나에게 자산이 되는 기록으로 쌓입니다.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8FEF078-6777-41C1-9C7F-43ADFD6D1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14950"/>
            <a:ext cx="12192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5F2E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5F2EEA"/>
                </a:solidFill>
                <a:latin typeface="Apple SD Gothic Neo"/>
                <a:ea typeface="Apple SD Gothic Neo"/>
                <a:cs typeface="Apple SD Gothic Neo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0592737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2026-05-18T14:46:51.8450000Z</dcterms:created>
  <dcterms:modified xsi:type="dcterms:W3CDTF">2026-05-18T14:46:51.8450000Z</dcterms:modified>
</coreProperties>
</file>