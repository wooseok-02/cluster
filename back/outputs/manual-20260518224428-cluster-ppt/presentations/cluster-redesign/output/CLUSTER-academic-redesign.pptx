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27279BE-5959-4391-8801-7A2E9BDDA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FDE01F-2A52-4D79-960B-1FD4347BAED8}"/>
              </a:ext>
            </a:extLst>
          </p:cNvPr>
          <p:cNvSpPr>
            <a:spLocks noGrp="1"/>
          </p:cNvSpPr>
          <p:nvPr/>
        </p:nvSpPr>
        <p:spPr>
          <a:xfrm>
            <a:off x="0" y="1390650"/>
            <a:ext cx="12192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3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C3F4D-84FF-4D89-8B2F-02F5682E5374}"/>
              </a:ext>
            </a:extLst>
          </p:cNvPr>
          <p:cNvSpPr>
            <a:spLocks noGrp="1"/>
          </p:cNvSpPr>
          <p:nvPr/>
        </p:nvSpPr>
        <p:spPr>
          <a:xfrm>
            <a:off x="4572000" y="2343150"/>
            <a:ext cx="3048000" cy="381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4D048B-FCC9-43D4-B221-44A68C1178E1}"/>
              </a:ext>
            </a:extLst>
          </p:cNvPr>
          <p:cNvSpPr>
            <a:spLocks noGrp="1"/>
          </p:cNvSpPr>
          <p:nvPr/>
        </p:nvSpPr>
        <p:spPr>
          <a:xfrm>
            <a:off x="0" y="28194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한 장으로 인생을 기록하다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EF9D65-37E5-400E-A6FB-04EA51331924}"/>
              </a:ext>
            </a:extLst>
          </p:cNvPr>
          <p:cNvSpPr>
            <a:spLocks noGrp="1"/>
          </p:cNvSpPr>
          <p:nvPr/>
        </p:nvSpPr>
        <p:spPr>
          <a:xfrm>
            <a:off x="0" y="542925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최우석 · 김성애  |  한국정보통신학회 춘계학술대회 2026</a:t>
            </a:r>
          </a:p>
        </p:txBody>
      </p:sp>
    </p:spTree>
    <p:extLst>
      <p:ext uri="{BB962C8B-B14F-4D97-AF65-F5344CB8AC3E}">
        <p14:creationId xmlns:p14="http://schemas.microsoft.com/office/powerpoint/2010/main" val="537431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1533EE-F8F9-452E-9464-4983F99F19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C3A6D8F-6F13-40D2-9EFB-4B98B8A08517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DATA IMPACT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597419-0623-4513-BB1E-CAD133436652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사진은 폭증하지만, 기억은 구조화되지 않습니다.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98BCC0-0514-4525-9A7B-602872BB2263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551BF2-E479-4E1E-ADD1-82471414F589}"/>
              </a:ext>
            </a:extLst>
          </p:cNvPr>
          <p:cNvSpPr>
            <a:spLocks noGrp="1"/>
          </p:cNvSpPr>
          <p:nvPr/>
        </p:nvSpPr>
        <p:spPr>
          <a:xfrm>
            <a:off x="1066800" y="2171700"/>
            <a:ext cx="2895600" cy="1676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4ECD4B-DC3C-434C-95A4-CFCEDED00182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2895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1.9조 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E1DCF6-FC94-47AE-ABC1-DB449172752E}"/>
              </a:ext>
            </a:extLst>
          </p:cNvPr>
          <p:cNvSpPr>
            <a:spLocks noGrp="1"/>
          </p:cNvSpPr>
          <p:nvPr/>
        </p:nvSpPr>
        <p:spPr>
          <a:xfrm>
            <a:off x="1390650" y="325755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2024년 전 세계 사진 촬영량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9D5E3A-B552-4558-AAA4-27F0FFD8FA68}"/>
              </a:ext>
            </a:extLst>
          </p:cNvPr>
          <p:cNvSpPr>
            <a:spLocks noGrp="1"/>
          </p:cNvSpPr>
          <p:nvPr/>
        </p:nvSpPr>
        <p:spPr>
          <a:xfrm>
            <a:off x="4495800" y="2171700"/>
            <a:ext cx="2895600" cy="1676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FAF48B-CCB7-4275-B580-82FF82E93D52}"/>
              </a:ext>
            </a:extLst>
          </p:cNvPr>
          <p:cNvSpPr>
            <a:spLocks noGrp="1"/>
          </p:cNvSpPr>
          <p:nvPr/>
        </p:nvSpPr>
        <p:spPr>
          <a:xfrm>
            <a:off x="4495800" y="2609850"/>
            <a:ext cx="2895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095EAD-2AEE-4EC4-885B-AB487A589B1D}"/>
              </a:ext>
            </a:extLst>
          </p:cNvPr>
          <p:cNvSpPr>
            <a:spLocks noGrp="1"/>
          </p:cNvSpPr>
          <p:nvPr/>
        </p:nvSpPr>
        <p:spPr>
          <a:xfrm>
            <a:off x="4819650" y="325755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스마트폰으로 촬영된 비중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E9A30B7-AB52-4D82-BB23-B55EF6CC3014}"/>
              </a:ext>
            </a:extLst>
          </p:cNvPr>
          <p:cNvSpPr>
            <a:spLocks noGrp="1"/>
          </p:cNvSpPr>
          <p:nvPr/>
        </p:nvSpPr>
        <p:spPr>
          <a:xfrm>
            <a:off x="7924800" y="2171700"/>
            <a:ext cx="2895600" cy="1676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624230-8976-4EB3-ACF2-DF2CA6575E52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28956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61,400장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AC410E-3387-4B28-B9C9-0C5FD415088A}"/>
              </a:ext>
            </a:extLst>
          </p:cNvPr>
          <p:cNvSpPr>
            <a:spLocks noGrp="1"/>
          </p:cNvSpPr>
          <p:nvPr/>
        </p:nvSpPr>
        <p:spPr>
          <a:xfrm>
            <a:off x="8248650" y="325755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매초 새로 생성되는 사진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68C1B4-2BDF-4FEF-9990-65F0E67D4CC2}"/>
              </a:ext>
            </a:extLst>
          </p:cNvPr>
          <p:cNvSpPr>
            <a:spLocks noGrp="1"/>
          </p:cNvSpPr>
          <p:nvPr/>
        </p:nvSpPr>
        <p:spPr>
          <a:xfrm>
            <a:off x="1428750" y="51816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사진은 남아 있는데, 우리는 그 안의 관계와 장소를 얼마나 기억하고 있을까요?</a:t>
            </a:r>
          </a:p>
        </p:txBody>
      </p:sp>
    </p:spTree>
    <p:extLst>
      <p:ext uri="{BB962C8B-B14F-4D97-AF65-F5344CB8AC3E}">
        <p14:creationId xmlns:p14="http://schemas.microsoft.com/office/powerpoint/2010/main" val="190857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AE71A2-A3CC-497A-BFEA-941B82BCF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98C1A1-3837-4CD9-A1BD-C46FBD4BB5B3}"/>
              </a:ext>
            </a:extLst>
          </p:cNvPr>
          <p:cNvSpPr>
            <a:spLocks noGrp="1"/>
          </p:cNvSpPr>
          <p:nvPr/>
        </p:nvSpPr>
        <p:spPr>
          <a:xfrm>
            <a:off x="0" y="2571750"/>
            <a:ext cx="1219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3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여러분은 작년 이맘때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6E8443-BE2C-4F4F-AB9B-A5A05E9C847C}"/>
              </a:ext>
            </a:extLst>
          </p:cNvPr>
          <p:cNvSpPr>
            <a:spLocks noGrp="1"/>
          </p:cNvSpPr>
          <p:nvPr/>
        </p:nvSpPr>
        <p:spPr>
          <a:xfrm>
            <a:off x="0" y="3257550"/>
            <a:ext cx="1219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3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누구와 어디 있었나요?</a:t>
            </a:r>
          </a:p>
        </p:txBody>
      </p:sp>
    </p:spTree>
    <p:extLst>
      <p:ext uri="{BB962C8B-B14F-4D97-AF65-F5344CB8AC3E}">
        <p14:creationId xmlns:p14="http://schemas.microsoft.com/office/powerpoint/2010/main" val="121360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C75148-03CA-40C0-8BD6-D9DC987527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AFD0A77-C742-4D2E-A6E3-4C514F8D4608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E19BAA-4900-4FDA-8407-5ED7BA343108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기존 도구는 기억의 맥락을 연결하지 못합니다.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7615E0-A223-4414-BC3B-692881413E51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8DD6A2-7025-43D6-9D98-9B5B4E0E0771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4800600" cy="23241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그래픽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66850" y="2362200"/>
            <a:ext cx="476250" cy="4762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8F430FE-8376-42C5-B6F1-C2B5EA689D24}"/>
              </a:ext>
            </a:extLst>
          </p:cNvPr>
          <p:cNvSpPr>
            <a:spLocks noGrp="1"/>
          </p:cNvSpPr>
          <p:nvPr/>
        </p:nvSpPr>
        <p:spPr>
          <a:xfrm>
            <a:off x="2190750" y="236220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갤러리 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DC7C77-B2F6-4860-BB8D-C013927D005F}"/>
              </a:ext>
            </a:extLst>
          </p:cNvPr>
          <p:cNvSpPr>
            <a:spLocks noGrp="1"/>
          </p:cNvSpPr>
          <p:nvPr/>
        </p:nvSpPr>
        <p:spPr>
          <a:xfrm>
            <a:off x="2190750" y="30099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날짜별 나열은 가능하지만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E7FEC8-481D-4B24-AD24-7F0389C235A6}"/>
              </a:ext>
            </a:extLst>
          </p:cNvPr>
          <p:cNvSpPr>
            <a:spLocks noGrp="1"/>
          </p:cNvSpPr>
          <p:nvPr/>
        </p:nvSpPr>
        <p:spPr>
          <a:xfrm>
            <a:off x="2190750" y="33718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누구와 어디서의 맥락은 비어 있음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77A517-3736-4E14-89AC-1DECF94BDF7D}"/>
              </a:ext>
            </a:extLst>
          </p:cNvPr>
          <p:cNvSpPr>
            <a:spLocks noGrp="1"/>
          </p:cNvSpPr>
          <p:nvPr/>
        </p:nvSpPr>
        <p:spPr>
          <a:xfrm>
            <a:off x="6324600" y="1943100"/>
            <a:ext cx="4800600" cy="23241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래픽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724650" y="2362200"/>
            <a:ext cx="476250" cy="47625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11ABE8-503B-4CDC-BFFD-D80941D87249}"/>
              </a:ext>
            </a:extLst>
          </p:cNvPr>
          <p:cNvSpPr>
            <a:spLocks noGrp="1"/>
          </p:cNvSpPr>
          <p:nvPr/>
        </p:nvSpPr>
        <p:spPr>
          <a:xfrm>
            <a:off x="7448550" y="2362200"/>
            <a:ext cx="285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캘린더 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8CE008-8969-4713-AF73-72892ECB925C}"/>
              </a:ext>
            </a:extLst>
          </p:cNvPr>
          <p:cNvSpPr>
            <a:spLocks noGrp="1"/>
          </p:cNvSpPr>
          <p:nvPr/>
        </p:nvSpPr>
        <p:spPr>
          <a:xfrm>
            <a:off x="7448550" y="3009900"/>
            <a:ext cx="3048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관리에 최적화되어 있고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E94D6B-3A31-4DEC-BD73-0AAE414ECE9E}"/>
              </a:ext>
            </a:extLst>
          </p:cNvPr>
          <p:cNvSpPr>
            <a:spLocks noGrp="1"/>
          </p:cNvSpPr>
          <p:nvPr/>
        </p:nvSpPr>
        <p:spPr>
          <a:xfrm>
            <a:off x="7448550" y="33718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과거 경험 탐색 도구는 아님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1E886A-4FD0-4A3C-8E80-7BBF65A8B071}"/>
              </a:ext>
            </a:extLst>
          </p:cNvPr>
          <p:cNvSpPr>
            <a:spLocks noGrp="1"/>
          </p:cNvSpPr>
          <p:nvPr/>
        </p:nvSpPr>
        <p:spPr>
          <a:xfrm>
            <a:off x="1733550" y="5067300"/>
            <a:ext cx="8724900" cy="6096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F308B0-0FC0-466C-98C7-504FCC4A7BC2}"/>
              </a:ext>
            </a:extLst>
          </p:cNvPr>
          <p:cNvSpPr>
            <a:spLocks noGrp="1"/>
          </p:cNvSpPr>
          <p:nvPr/>
        </p:nvSpPr>
        <p:spPr>
          <a:xfrm>
            <a:off x="1924050" y="5238750"/>
            <a:ext cx="834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필요한 것은 사진을 관계·장소·시간으로 다시 묶는 기록 시스템입니다.</a:t>
            </a:r>
          </a:p>
        </p:txBody>
      </p:sp>
    </p:spTree>
    <p:extLst>
      <p:ext uri="{BB962C8B-B14F-4D97-AF65-F5344CB8AC3E}">
        <p14:creationId xmlns:p14="http://schemas.microsoft.com/office/powerpoint/2010/main" val="180911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095D73D-39A7-4615-BD24-D084C8798265}"/>
              </a:ext>
            </a:extLst>
          </p:cNvPr>
          <p:cNvSpPr>
            <a:spLocks noGrp="1"/>
          </p:cNvSpPr>
          <p:nvPr/>
        </p:nvSpPr>
        <p:spPr>
          <a:xfrm>
            <a:off x="0" y="28575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3EFBEF-BB34-4086-937C-7829260A1A0E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SOLUTION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145268-528A-48AE-B516-FC07A6BAB3E5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CLUSTER는 사진을 인생 기록의 구조로 바꿉니다.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E4FCA8D-531F-466E-942E-C448C0E79AA7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96406D-5B2A-4323-84AE-D656D3EA4D19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9944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한 장에서 인물, 장소, 시간을 자동 추출해 관계와 경험의 맥락을 구조화하는 웹 기반 기록 시스템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8DC792-47A2-4B94-80C8-FF43DAEC5A57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2895600" cy="21526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래픽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228850" y="3028950"/>
            <a:ext cx="495300" cy="4953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69DF63F-0339-4AFD-A661-96126AC04A0E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2895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883A3E-20B9-4EC7-AA1A-4EAAF9EB391D}"/>
              </a:ext>
            </a:extLst>
          </p:cNvPr>
          <p:cNvSpPr>
            <a:spLocks noGrp="1"/>
          </p:cNvSpPr>
          <p:nvPr/>
        </p:nvSpPr>
        <p:spPr>
          <a:xfrm>
            <a:off x="1390650" y="4171950"/>
            <a:ext cx="2171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사진을 검색 대상이 아니라 삶의 구조화된 자산으로 전환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22B9793-88A1-4119-9697-B435D4DF568D}"/>
              </a:ext>
            </a:extLst>
          </p:cNvPr>
          <p:cNvSpPr>
            <a:spLocks noGrp="1"/>
          </p:cNvSpPr>
          <p:nvPr/>
        </p:nvSpPr>
        <p:spPr>
          <a:xfrm>
            <a:off x="4419600" y="2686050"/>
            <a:ext cx="2895600" cy="21526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그래픽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619750" y="3028950"/>
            <a:ext cx="495300" cy="4953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7E9C08-FA72-46C7-8658-16217F630F35}"/>
              </a:ext>
            </a:extLst>
          </p:cNvPr>
          <p:cNvSpPr>
            <a:spLocks noGrp="1"/>
          </p:cNvSpPr>
          <p:nvPr/>
        </p:nvSpPr>
        <p:spPr>
          <a:xfrm>
            <a:off x="4419600" y="3714750"/>
            <a:ext cx="2895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기록의 진실성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8BA685-35C6-4B08-BA3C-6877BC074D7D}"/>
              </a:ext>
            </a:extLst>
          </p:cNvPr>
          <p:cNvSpPr>
            <a:spLocks noGrp="1"/>
          </p:cNvSpPr>
          <p:nvPr/>
        </p:nvSpPr>
        <p:spPr>
          <a:xfrm>
            <a:off x="4781550" y="4171950"/>
            <a:ext cx="2171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GPS와 시간 데이터가 일치할 때 기록으로 인정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5601A-D8D1-4B5B-B53F-7CC08D58F7D1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895600" cy="21526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래픽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010650" y="3028950"/>
            <a:ext cx="495300" cy="4953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080B4ED2-95E6-407A-B312-E66E4250B88E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2895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자아 집중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F91188-464B-4D19-A5DB-B3D50CF14058}"/>
              </a:ext>
            </a:extLst>
          </p:cNvPr>
          <p:cNvSpPr>
            <a:spLocks noGrp="1"/>
          </p:cNvSpPr>
          <p:nvPr/>
        </p:nvSpPr>
        <p:spPr>
          <a:xfrm>
            <a:off x="8172450" y="4171950"/>
            <a:ext cx="2171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누구와 어디에 에너지를 쓰는지 시각적으로 확인</a:t>
            </a:r>
          </a:p>
        </p:txBody>
      </p:sp>
    </p:spTree>
    <p:extLst>
      <p:ext uri="{BB962C8B-B14F-4D97-AF65-F5344CB8AC3E}">
        <p14:creationId xmlns:p14="http://schemas.microsoft.com/office/powerpoint/2010/main" val="716021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9339898-6BF2-40AD-BA4F-091C4F68C896}"/>
              </a:ext>
            </a:extLst>
          </p:cNvPr>
          <p:cNvSpPr>
            <a:spLocks noGrp="1"/>
          </p:cNvSpPr>
          <p:nvPr/>
        </p:nvSpPr>
        <p:spPr>
          <a:xfrm>
            <a:off x="0" y="34290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D287D3-9D94-44BA-9937-742F63D0FD9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ARCHITECTURE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BEA1DA-BF78-445B-AB80-C10436B299B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세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개의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서버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계층이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사진을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구조화된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기록으로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변환합니다</a:t>
            </a:r>
            <a:r>
              <a:rPr sz="22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10A996-F0C7-42B6-B5F2-0663F3ED1935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래픽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19200" y="1638300"/>
            <a:ext cx="9753600" cy="40957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5E3C3E1-ABB2-47ED-8CE5-0FAA8FE66265}"/>
              </a:ext>
            </a:extLst>
          </p:cNvPr>
          <p:cNvSpPr>
            <a:spLocks noGrp="1"/>
          </p:cNvSpPr>
          <p:nvPr/>
        </p:nvSpPr>
        <p:spPr>
          <a:xfrm>
            <a:off x="952500" y="60960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rPr>
              <a:t>사진 업로드 → EXIF 추출 → 얼굴 임베딩 → 장소·일정 매칭 → ActivityLog 자동 생성</a:t>
            </a:r>
          </a:p>
        </p:txBody>
      </p:sp>
    </p:spTree>
    <p:extLst>
      <p:ext uri="{BB962C8B-B14F-4D97-AF65-F5344CB8AC3E}">
        <p14:creationId xmlns:p14="http://schemas.microsoft.com/office/powerpoint/2010/main" val="1898033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468AA392-0200-4483-BE2B-93E95C742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299057-225D-4615-8570-9A96FC8586D6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PIPELINE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C42F0E-3BF0-4337-BA23-20B2E6F2CC93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핵심 파이프라인은 사진 한 장에서 시작해 기록 하나로 끝납니다.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033DBC-0599-48A3-ADF3-47F24741BBB9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F649922-58D6-49F2-AD1A-E5DFCAA19505}"/>
              </a:ext>
            </a:extLst>
          </p:cNvPr>
          <p:cNvSpPr>
            <a:spLocks noGrp="1"/>
          </p:cNvSpPr>
          <p:nvPr/>
        </p:nvSpPr>
        <p:spPr>
          <a:xfrm>
            <a:off x="1352550" y="160020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CEDA3A-F700-47B1-BCA6-9275E3D951FA}"/>
              </a:ext>
            </a:extLst>
          </p:cNvPr>
          <p:cNvSpPr>
            <a:spLocks noGrp="1"/>
          </p:cNvSpPr>
          <p:nvPr/>
        </p:nvSpPr>
        <p:spPr>
          <a:xfrm>
            <a:off x="1352550" y="166687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8EB21A-D2A3-4FDB-B6B8-34831F50D4E1}"/>
              </a:ext>
            </a:extLst>
          </p:cNvPr>
          <p:cNvSpPr>
            <a:spLocks noGrp="1"/>
          </p:cNvSpPr>
          <p:nvPr/>
        </p:nvSpPr>
        <p:spPr>
          <a:xfrm>
            <a:off x="2019300" y="160972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 추출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F91711-E301-4AC4-A716-F0FA8D4A50B7}"/>
              </a:ext>
            </a:extLst>
          </p:cNvPr>
          <p:cNvSpPr>
            <a:spLocks noGrp="1"/>
          </p:cNvSpPr>
          <p:nvPr/>
        </p:nvSpPr>
        <p:spPr>
          <a:xfrm>
            <a:off x="2019300" y="18954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GPS 좌표와 촬영 시간을 읽어 기준 데이터를 확보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EFF222-6231-4610-9AE1-25315D22BC81}"/>
              </a:ext>
            </a:extLst>
          </p:cNvPr>
          <p:cNvSpPr>
            <a:spLocks noGrp="1"/>
          </p:cNvSpPr>
          <p:nvPr/>
        </p:nvSpPr>
        <p:spPr>
          <a:xfrm>
            <a:off x="1447800" y="20288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948E74D-D520-4FE0-8CC8-A88884688502}"/>
              </a:ext>
            </a:extLst>
          </p:cNvPr>
          <p:cNvSpPr>
            <a:spLocks noGrp="1"/>
          </p:cNvSpPr>
          <p:nvPr/>
        </p:nvSpPr>
        <p:spPr>
          <a:xfrm>
            <a:off x="1352550" y="230505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61CA620-39DD-478A-BCDF-C204DAFEBC26}"/>
              </a:ext>
            </a:extLst>
          </p:cNvPr>
          <p:cNvSpPr>
            <a:spLocks noGrp="1"/>
          </p:cNvSpPr>
          <p:nvPr/>
        </p:nvSpPr>
        <p:spPr>
          <a:xfrm>
            <a:off x="1352550" y="237172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C34798-AD7E-4135-B938-4AF4DC580272}"/>
              </a:ext>
            </a:extLst>
          </p:cNvPr>
          <p:cNvSpPr>
            <a:spLocks noGrp="1"/>
          </p:cNvSpPr>
          <p:nvPr/>
        </p:nvSpPr>
        <p:spPr>
          <a:xfrm>
            <a:off x="2019300" y="23145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얼굴 임베딩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F3E05A-9348-470D-8473-A477F9A9A1A1}"/>
              </a:ext>
            </a:extLst>
          </p:cNvPr>
          <p:cNvSpPr>
            <a:spLocks noGrp="1"/>
          </p:cNvSpPr>
          <p:nvPr/>
        </p:nvSpPr>
        <p:spPr>
          <a:xfrm>
            <a:off x="2019300" y="260032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DeepFace ArcFace로 인물을 self/matched/unmatched로 분류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A67EC0-0648-4CF2-91C7-EC3086A3FAB1}"/>
              </a:ext>
            </a:extLst>
          </p:cNvPr>
          <p:cNvSpPr>
            <a:spLocks noGrp="1"/>
          </p:cNvSpPr>
          <p:nvPr/>
        </p:nvSpPr>
        <p:spPr>
          <a:xfrm>
            <a:off x="1447800" y="273367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2B9F792-A19C-4026-9DC3-572A04ADD6DC}"/>
              </a:ext>
            </a:extLst>
          </p:cNvPr>
          <p:cNvSpPr>
            <a:spLocks noGrp="1"/>
          </p:cNvSpPr>
          <p:nvPr/>
        </p:nvSpPr>
        <p:spPr>
          <a:xfrm>
            <a:off x="1352550" y="300990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D66B6C-C7EF-4259-9C8A-57B9743BE77E}"/>
              </a:ext>
            </a:extLst>
          </p:cNvPr>
          <p:cNvSpPr>
            <a:spLocks noGrp="1"/>
          </p:cNvSpPr>
          <p:nvPr/>
        </p:nvSpPr>
        <p:spPr>
          <a:xfrm>
            <a:off x="1352550" y="307657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9E88AF-FFF0-4DA6-8B83-8E851BA17BCE}"/>
              </a:ext>
            </a:extLst>
          </p:cNvPr>
          <p:cNvSpPr>
            <a:spLocks noGrp="1"/>
          </p:cNvSpPr>
          <p:nvPr/>
        </p:nvSpPr>
        <p:spPr>
          <a:xfrm>
            <a:off x="2019300" y="301942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그룹화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324967-5981-49C0-860C-11B7579FFE01}"/>
              </a:ext>
            </a:extLst>
          </p:cNvPr>
          <p:cNvSpPr>
            <a:spLocks noGrp="1"/>
          </p:cNvSpPr>
          <p:nvPr/>
        </p:nvSpPr>
        <p:spPr>
          <a:xfrm>
            <a:off x="2019300" y="33051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같은 날짜와 200m 이내 사진을 하나의 활동으로 묶음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0D6DB70-3A5C-4D44-868F-192B279F4C4B}"/>
              </a:ext>
            </a:extLst>
          </p:cNvPr>
          <p:cNvSpPr>
            <a:spLocks noGrp="1"/>
          </p:cNvSpPr>
          <p:nvPr/>
        </p:nvSpPr>
        <p:spPr>
          <a:xfrm>
            <a:off x="1447800" y="34385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7A6277A-CB50-469F-95C5-9C1A0ABFB583}"/>
              </a:ext>
            </a:extLst>
          </p:cNvPr>
          <p:cNvSpPr>
            <a:spLocks noGrp="1"/>
          </p:cNvSpPr>
          <p:nvPr/>
        </p:nvSpPr>
        <p:spPr>
          <a:xfrm>
            <a:off x="1352550" y="371475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CD68B6-A29B-4027-8544-BA071CB03469}"/>
              </a:ext>
            </a:extLst>
          </p:cNvPr>
          <p:cNvSpPr>
            <a:spLocks noGrp="1"/>
          </p:cNvSpPr>
          <p:nvPr/>
        </p:nvSpPr>
        <p:spPr>
          <a:xfrm>
            <a:off x="1352550" y="378142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CC4488-14F3-467D-AA9E-D58EDDA9B26E}"/>
              </a:ext>
            </a:extLst>
          </p:cNvPr>
          <p:cNvSpPr>
            <a:spLocks noGrp="1"/>
          </p:cNvSpPr>
          <p:nvPr/>
        </p:nvSpPr>
        <p:spPr>
          <a:xfrm>
            <a:off x="2019300" y="37242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매칭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829DE07-51F4-4BEC-978F-6B19B8EE3083}"/>
              </a:ext>
            </a:extLst>
          </p:cNvPr>
          <p:cNvSpPr>
            <a:spLocks noGrp="1"/>
          </p:cNvSpPr>
          <p:nvPr/>
        </p:nvSpPr>
        <p:spPr>
          <a:xfrm>
            <a:off x="2019300" y="401002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exact → date_only → none 순으로 기존 일정과 연결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23B1EC-F0A0-4F9A-A85E-5819BB73384F}"/>
              </a:ext>
            </a:extLst>
          </p:cNvPr>
          <p:cNvSpPr>
            <a:spLocks noGrp="1"/>
          </p:cNvSpPr>
          <p:nvPr/>
        </p:nvSpPr>
        <p:spPr>
          <a:xfrm>
            <a:off x="1447800" y="414337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882A65F-7BB9-4871-9558-6103BE10D820}"/>
              </a:ext>
            </a:extLst>
          </p:cNvPr>
          <p:cNvSpPr>
            <a:spLocks noGrp="1"/>
          </p:cNvSpPr>
          <p:nvPr/>
        </p:nvSpPr>
        <p:spPr>
          <a:xfrm>
            <a:off x="1352550" y="441960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0454ABD-2987-4264-B661-525ABA3FD568}"/>
              </a:ext>
            </a:extLst>
          </p:cNvPr>
          <p:cNvSpPr>
            <a:spLocks noGrp="1"/>
          </p:cNvSpPr>
          <p:nvPr/>
        </p:nvSpPr>
        <p:spPr>
          <a:xfrm>
            <a:off x="1352550" y="448627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8E4DCEC-C9A5-4287-AC8B-B0D41831FBF2}"/>
              </a:ext>
            </a:extLst>
          </p:cNvPr>
          <p:cNvSpPr>
            <a:spLocks noGrp="1"/>
          </p:cNvSpPr>
          <p:nvPr/>
        </p:nvSpPr>
        <p:spPr>
          <a:xfrm>
            <a:off x="2019300" y="442912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얼굴 집계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358545-FC77-4B2C-9DDE-5BEEA479764B}"/>
              </a:ext>
            </a:extLst>
          </p:cNvPr>
          <p:cNvSpPr>
            <a:spLocks noGrp="1"/>
          </p:cNvSpPr>
          <p:nvPr/>
        </p:nvSpPr>
        <p:spPr>
          <a:xfrm>
            <a:off x="2019300" y="471487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그룹별 등장 인물을 중복 없이 집합으로 정리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B8FFD2D-83BA-468D-B53C-54A6A74EFC6A}"/>
              </a:ext>
            </a:extLst>
          </p:cNvPr>
          <p:cNvSpPr>
            <a:spLocks noGrp="1"/>
          </p:cNvSpPr>
          <p:nvPr/>
        </p:nvSpPr>
        <p:spPr>
          <a:xfrm>
            <a:off x="1447800" y="4848225"/>
            <a:ext cx="228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↓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ED3F397-0FA3-41FE-A2B5-8A8862260AFB}"/>
              </a:ext>
            </a:extLst>
          </p:cNvPr>
          <p:cNvSpPr>
            <a:spLocks noGrp="1"/>
          </p:cNvSpPr>
          <p:nvPr/>
        </p:nvSpPr>
        <p:spPr>
          <a:xfrm>
            <a:off x="1352550" y="5124450"/>
            <a:ext cx="419100" cy="419100"/>
          </a:xfrm>
          <a:prstGeom prst="ellipse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8A8954-00FD-4382-AE8D-FEED382261FA}"/>
              </a:ext>
            </a:extLst>
          </p:cNvPr>
          <p:cNvSpPr>
            <a:spLocks noGrp="1"/>
          </p:cNvSpPr>
          <p:nvPr/>
        </p:nvSpPr>
        <p:spPr>
          <a:xfrm>
            <a:off x="1352550" y="5191125"/>
            <a:ext cx="419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A23DD89-6E70-4D70-B067-E2645CCB3704}"/>
              </a:ext>
            </a:extLst>
          </p:cNvPr>
          <p:cNvSpPr>
            <a:spLocks noGrp="1"/>
          </p:cNvSpPr>
          <p:nvPr/>
        </p:nvSpPr>
        <p:spPr>
          <a:xfrm>
            <a:off x="2019300" y="5133975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결과 반환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9481E96-D411-4C0B-B50A-AC431757DC9D}"/>
              </a:ext>
            </a:extLst>
          </p:cNvPr>
          <p:cNvSpPr>
            <a:spLocks noGrp="1"/>
          </p:cNvSpPr>
          <p:nvPr/>
        </p:nvSpPr>
        <p:spPr>
          <a:xfrm>
            <a:off x="2019300" y="5419725"/>
            <a:ext cx="533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언제, 어디서, 누구와를 ActivityLog로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50FF84B-51A4-4627-9352-9D2DF125F4B6}"/>
              </a:ext>
            </a:extLst>
          </p:cNvPr>
          <p:cNvSpPr>
            <a:spLocks noGrp="1"/>
          </p:cNvSpPr>
          <p:nvPr/>
        </p:nvSpPr>
        <p:spPr>
          <a:xfrm>
            <a:off x="8439150" y="1790700"/>
            <a:ext cx="9525" cy="3276600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225C43F-F6E2-4E27-9AAD-ED5D56DC8E79}"/>
              </a:ext>
            </a:extLst>
          </p:cNvPr>
          <p:cNvSpPr>
            <a:spLocks noGrp="1"/>
          </p:cNvSpPr>
          <p:nvPr/>
        </p:nvSpPr>
        <p:spPr>
          <a:xfrm>
            <a:off x="8743950" y="2781300"/>
            <a:ext cx="22479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사용자가 한 일은</a:t>
            </a:r>
          </a:p>
          <a:p>
            <a:pPr algn="ctr">
              <a:defRPr sz="23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사진 업로드 하나</a:t>
            </a:r>
          </a:p>
        </p:txBody>
      </p:sp>
    </p:spTree>
    <p:extLst>
      <p:ext uri="{BB962C8B-B14F-4D97-AF65-F5344CB8AC3E}">
        <p14:creationId xmlns:p14="http://schemas.microsoft.com/office/powerpoint/2010/main" val="30428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809B36-6FA6-4D26-A71B-B76A195D8B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8A125B-0B27-4CBA-AAF0-94094D32AA41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DESIGN DECISIONS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948F7C-2B98-4DE0-8545-6C5BEAA0A26B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자동화의 기준을 시스템 안에 고정했습니다.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138B26-4CB1-488C-9C9D-B1C3201DA45B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66F97BE-A1B8-4FEC-8A08-A213C049C4A2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결정 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B5704A-7E8F-46AA-8AE9-C677C2322AEA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거리 기반 활동 그룹화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B9DF7A-7AA4-44DF-A5EF-2148CE4367B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654814-2501-4EF0-9926-3E7F8E8B9670}"/>
              </a:ext>
            </a:extLst>
          </p:cNvPr>
          <p:cNvSpPr>
            <a:spLocks noGrp="1"/>
          </p:cNvSpPr>
          <p:nvPr/>
        </p:nvSpPr>
        <p:spPr>
          <a:xfrm>
            <a:off x="1962150" y="24193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사용자가 사진 묶음을 직접 만들지 않아도 의미 있는 활동 단위가 필요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C08794-DD8D-42DA-B247-78B3559B46C0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8D015D-4B3C-4527-82AB-D2BFCDF66245}"/>
              </a:ext>
            </a:extLst>
          </p:cNvPr>
          <p:cNvSpPr>
            <a:spLocks noGrp="1"/>
          </p:cNvSpPr>
          <p:nvPr/>
        </p:nvSpPr>
        <p:spPr>
          <a:xfrm>
            <a:off x="1962150" y="281940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같은 날짜 + Haversine 기준 200m 이내 사진을 하나의 Activity로 통합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53A6C-EFF8-4159-AF02-74A06D66B652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3E8CAF-00A8-412A-A351-C9ECCDC2D13C}"/>
              </a:ext>
            </a:extLst>
          </p:cNvPr>
          <p:cNvSpPr>
            <a:spLocks noGrp="1"/>
          </p:cNvSpPr>
          <p:nvPr/>
        </p:nvSpPr>
        <p:spPr>
          <a:xfrm>
            <a:off x="1962150" y="32194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흩어진 사진을 관계와 장소가 붙은 기억 단위로 변환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649DCE6-9489-4126-9A21-8AB3DEC4C8C6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10515600" cy="19050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472E9B-5DD2-4622-86C0-256518A42FDC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결정 ②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9163722-4B9E-40DA-AAEC-F9BE60EC0F8F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매칭 우선순위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28F057C-F5C3-4465-A1C8-FC4C1A879A78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6AE090-52CC-498C-ACF2-EDA5173727AD}"/>
              </a:ext>
            </a:extLst>
          </p:cNvPr>
          <p:cNvSpPr>
            <a:spLocks noGrp="1"/>
          </p:cNvSpPr>
          <p:nvPr/>
        </p:nvSpPr>
        <p:spPr>
          <a:xfrm>
            <a:off x="1962150" y="49339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기록이 기존 일정과 얼마나 강하게 연결되는지 구분해야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12B767-CB15-4490-B5FD-952315C1AE90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871405-D943-43C0-BC8B-83FA6AB974C2}"/>
              </a:ext>
            </a:extLst>
          </p:cNvPr>
          <p:cNvSpPr>
            <a:spLocks noGrp="1"/>
          </p:cNvSpPr>
          <p:nvPr/>
        </p:nvSpPr>
        <p:spPr>
          <a:xfrm>
            <a:off x="1962150" y="533400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exact → date_only → none 순으로 매칭 상태를 부여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BB6648-EB78-473D-85F5-09A7E24A516A}"/>
              </a:ext>
            </a:extLst>
          </p:cNvPr>
          <p:cNvSpPr>
            <a:spLocks noGrp="1"/>
          </p:cNvSpPr>
          <p:nvPr/>
        </p:nvSpPr>
        <p:spPr>
          <a:xfrm>
            <a:off x="838200" y="57340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4AEB24-19FF-4FF6-B598-F98992590028}"/>
              </a:ext>
            </a:extLst>
          </p:cNvPr>
          <p:cNvSpPr>
            <a:spLocks noGrp="1"/>
          </p:cNvSpPr>
          <p:nvPr/>
        </p:nvSpPr>
        <p:spPr>
          <a:xfrm>
            <a:off x="1962150" y="57340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 기록의 신뢰도를 사용자에게 투명하게 전달</a:t>
            </a:r>
          </a:p>
        </p:txBody>
      </p:sp>
    </p:spTree>
    <p:extLst>
      <p:ext uri="{BB962C8B-B14F-4D97-AF65-F5344CB8AC3E}">
        <p14:creationId xmlns:p14="http://schemas.microsoft.com/office/powerpoint/2010/main" val="405342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0B1A9D-41AA-49E2-8C7D-0669D30D7B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1AC116-EDC6-4F55-A5A6-3A46A289DF01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DESIGN DECISIONS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4DFCEE-4E31-47A8-90FA-425FA9C2F72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기록의 신뢰성과 데이터 일관성을 별도 설계로 보강했습니다.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9C752E-D580-4638-A730-67815B3EE79C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7FD349D-A132-4187-9AEA-4B737BF70ED4}"/>
              </a:ext>
            </a:extLst>
          </p:cNvPr>
          <p:cNvSpPr>
            <a:spLocks noGrp="1"/>
          </p:cNvSpPr>
          <p:nvPr/>
        </p:nvSpPr>
        <p:spPr>
          <a:xfrm>
            <a:off x="838200" y="15811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결정 ③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571B15-C735-44AE-834F-6A963A811942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단방향 상태 전이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C98441A-4F41-41EC-9DC9-688CFD5969E9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999E93-8A9C-448B-8041-76816EED4C3A}"/>
              </a:ext>
            </a:extLst>
          </p:cNvPr>
          <p:cNvSpPr>
            <a:spLocks noGrp="1"/>
          </p:cNvSpPr>
          <p:nvPr/>
        </p:nvSpPr>
        <p:spPr>
          <a:xfrm>
            <a:off x="1962150" y="24193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완료된 과거 기록이 임의로 되돌아가면 기록의 의미가 약해짐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6DD620-6719-4D82-9AAD-5E092E569EDC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96A919-1EA4-49B7-892F-FCDD34A8E25C}"/>
              </a:ext>
            </a:extLst>
          </p:cNvPr>
          <p:cNvSpPr>
            <a:spLocks noGrp="1"/>
          </p:cNvSpPr>
          <p:nvPr/>
        </p:nvSpPr>
        <p:spPr>
          <a:xfrm>
            <a:off x="1962150" y="281940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Schedule 상태를 Planned → Completed 방향으로만 전이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CD1668-39DB-4281-8A2C-B7657293A4B7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6DA9EF-4BA4-462C-AF0D-BD8C3795E1F9}"/>
              </a:ext>
            </a:extLst>
          </p:cNvPr>
          <p:cNvSpPr>
            <a:spLocks noGrp="1"/>
          </p:cNvSpPr>
          <p:nvPr/>
        </p:nvSpPr>
        <p:spPr>
          <a:xfrm>
            <a:off x="1962150" y="32194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기록의 재확정과 임의 수정 가능성을 줄임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4F33F8-014F-445C-ADC7-9DD5B981D757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10515600" cy="19050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3A527D0-B11A-4326-ABCB-F0351BA436B6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설계 결정 ④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7A2190-E973-4338-95B5-053535796BFA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중복 없는 인물 집계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3F8BB8-527F-452D-8291-4AA18F84AA24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3C10BFE-7D5D-4A07-8E6D-25E950BE5D4B}"/>
              </a:ext>
            </a:extLst>
          </p:cNvPr>
          <p:cNvSpPr>
            <a:spLocks noGrp="1"/>
          </p:cNvSpPr>
          <p:nvPr/>
        </p:nvSpPr>
        <p:spPr>
          <a:xfrm>
            <a:off x="1962150" y="49339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같은 사람이 여러 장에 등장해도 함께한 사람은 한 명으로 계산되어야 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FF70EF-B5D4-474F-8965-576CFCC118FB}"/>
              </a:ext>
            </a:extLst>
          </p:cNvPr>
          <p:cNvSpPr>
            <a:spLocks noGrp="1"/>
          </p:cNvSpPr>
          <p:nvPr/>
        </p:nvSpPr>
        <p:spPr>
          <a:xfrm>
            <a:off x="838200" y="533400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구현 방식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7B6C5A-726B-4C52-B0C4-F5C65C108F29}"/>
              </a:ext>
            </a:extLst>
          </p:cNvPr>
          <p:cNvSpPr>
            <a:spLocks noGrp="1"/>
          </p:cNvSpPr>
          <p:nvPr/>
        </p:nvSpPr>
        <p:spPr>
          <a:xfrm>
            <a:off x="1962150" y="533400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그룹별 얼굴 결과를 Set 연산으로 집계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3C9E72-EBB9-460C-967B-221739AAA966}"/>
              </a:ext>
            </a:extLst>
          </p:cNvPr>
          <p:cNvSpPr>
            <a:spLocks noGrp="1"/>
          </p:cNvSpPr>
          <p:nvPr/>
        </p:nvSpPr>
        <p:spPr>
          <a:xfrm>
            <a:off x="838200" y="57340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6C18FA-F9CD-43E0-B0C6-D600BBF975E9}"/>
              </a:ext>
            </a:extLst>
          </p:cNvPr>
          <p:cNvSpPr>
            <a:spLocks noGrp="1"/>
          </p:cNvSpPr>
          <p:nvPr/>
        </p:nvSpPr>
        <p:spPr>
          <a:xfrm>
            <a:off x="1962150" y="5734050"/>
            <a:ext cx="885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People 통계와 관계 밀도 시각화의 과대 집계를 방지</a:t>
            </a:r>
          </a:p>
        </p:txBody>
      </p:sp>
    </p:spTree>
    <p:extLst>
      <p:ext uri="{BB962C8B-B14F-4D97-AF65-F5344CB8AC3E}">
        <p14:creationId xmlns:p14="http://schemas.microsoft.com/office/powerpoint/2010/main" val="18594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01A19F-B701-443B-B664-F1E10ACBF1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3791A4-7EB1-4CE3-9169-AF7C8FE7A6C9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IMPLEMENTATION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D53A75F-407C-4026-9120-E430C1844F84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배포 환경과 5개 도메인 기능을 구현했습니다.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7362FA-D859-4C1E-BCF0-765454D9FFB8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21FD7F-18C0-4244-BBB7-D32C2A0500F3}"/>
              </a:ext>
            </a:extLst>
          </p:cNvPr>
          <p:cNvSpPr>
            <a:spLocks noGrp="1"/>
          </p:cNvSpPr>
          <p:nvPr/>
        </p:nvSpPr>
        <p:spPr>
          <a:xfrm>
            <a:off x="1009650" y="1600200"/>
            <a:ext cx="2914650" cy="85725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667995-3AD2-4E44-AEC6-39F49683CDD3}"/>
              </a:ext>
            </a:extLst>
          </p:cNvPr>
          <p:cNvSpPr>
            <a:spLocks noGrp="1"/>
          </p:cNvSpPr>
          <p:nvPr/>
        </p:nvSpPr>
        <p:spPr>
          <a:xfrm>
            <a:off x="1009650" y="17907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191200-8748-40FB-B411-1EA5F215DB3A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Frontend · React/Vite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FBDD93-52BB-4D78-9602-BAB9050A52E6}"/>
              </a:ext>
            </a:extLst>
          </p:cNvPr>
          <p:cNvSpPr>
            <a:spLocks noGrp="1"/>
          </p:cNvSpPr>
          <p:nvPr/>
        </p:nvSpPr>
        <p:spPr>
          <a:xfrm>
            <a:off x="4438650" y="1600200"/>
            <a:ext cx="2914650" cy="85725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5C30D9-BA9F-4FD9-82EE-C381DB269023}"/>
              </a:ext>
            </a:extLst>
          </p:cNvPr>
          <p:cNvSpPr>
            <a:spLocks noGrp="1"/>
          </p:cNvSpPr>
          <p:nvPr/>
        </p:nvSpPr>
        <p:spPr>
          <a:xfrm>
            <a:off x="4438650" y="17907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Railway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BB1C5E-9F92-47D9-AA88-65DF52EE292B}"/>
              </a:ext>
            </a:extLst>
          </p:cNvPr>
          <p:cNvSpPr>
            <a:spLocks noGrp="1"/>
          </p:cNvSpPr>
          <p:nvPr/>
        </p:nvSpPr>
        <p:spPr>
          <a:xfrm>
            <a:off x="4438650" y="2114550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Backend · FastAPI/PostgreSQL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AA99BF-7ACB-46A9-BE95-4C8F9FBEA8F0}"/>
              </a:ext>
            </a:extLst>
          </p:cNvPr>
          <p:cNvSpPr>
            <a:spLocks noGrp="1"/>
          </p:cNvSpPr>
          <p:nvPr/>
        </p:nvSpPr>
        <p:spPr>
          <a:xfrm>
            <a:off x="7867650" y="1600200"/>
            <a:ext cx="2914650" cy="85725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5F8326-FDE7-44F0-8B16-C86454FF21CF}"/>
              </a:ext>
            </a:extLst>
          </p:cNvPr>
          <p:cNvSpPr>
            <a:spLocks noGrp="1"/>
          </p:cNvSpPr>
          <p:nvPr/>
        </p:nvSpPr>
        <p:spPr>
          <a:xfrm>
            <a:off x="7867650" y="17907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HuggingFace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2A2767-36DF-48F3-8F27-B8372EAEBC6B}"/>
              </a:ext>
            </a:extLst>
          </p:cNvPr>
          <p:cNvSpPr>
            <a:spLocks noGrp="1"/>
          </p:cNvSpPr>
          <p:nvPr/>
        </p:nvSpPr>
        <p:spPr>
          <a:xfrm>
            <a:off x="7867650" y="2114550"/>
            <a:ext cx="2914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AI Server · DeepFace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2AC445-AD0B-4E57-8FD8-FEE3A8BB0B2D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1981200" cy="18097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CDCFE-8B2B-418B-90E1-B722040E545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470977-9D50-457C-A259-79951AA5D87B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1562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회원가입 · 로그인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JWT 인증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프로필 임베딩 등록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56FB90-BDB8-4FE2-8644-80ED4C7713F3}"/>
              </a:ext>
            </a:extLst>
          </p:cNvPr>
          <p:cNvSpPr>
            <a:spLocks noGrp="1"/>
          </p:cNvSpPr>
          <p:nvPr/>
        </p:nvSpPr>
        <p:spPr>
          <a:xfrm>
            <a:off x="2876550" y="3276600"/>
            <a:ext cx="1981200" cy="180975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B14B71-A8A2-461F-8D98-BFC4B5F97A4D}"/>
              </a:ext>
            </a:extLst>
          </p:cNvPr>
          <p:cNvSpPr>
            <a:spLocks noGrp="1"/>
          </p:cNvSpPr>
          <p:nvPr/>
        </p:nvSpPr>
        <p:spPr>
          <a:xfrm>
            <a:off x="3067050" y="35433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0543C8-B374-4892-8172-08DFC495EC8C}"/>
              </a:ext>
            </a:extLst>
          </p:cNvPr>
          <p:cNvSpPr>
            <a:spLocks noGrp="1"/>
          </p:cNvSpPr>
          <p:nvPr/>
        </p:nvSpPr>
        <p:spPr>
          <a:xfrm>
            <a:off x="3086100" y="4000500"/>
            <a:ext cx="1562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 등록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얼굴 분류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관계 상태 분류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7BDCCD2-C3BA-4AC7-B04E-4B55110D102B}"/>
              </a:ext>
            </a:extLst>
          </p:cNvPr>
          <p:cNvSpPr>
            <a:spLocks noGrp="1"/>
          </p:cNvSpPr>
          <p:nvPr/>
        </p:nvSpPr>
        <p:spPr>
          <a:xfrm>
            <a:off x="5200650" y="3276600"/>
            <a:ext cx="1981200" cy="18097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2B616E-4177-4F61-ABCE-A5747BD1DDE0}"/>
              </a:ext>
            </a:extLst>
          </p:cNvPr>
          <p:cNvSpPr>
            <a:spLocks noGrp="1"/>
          </p:cNvSpPr>
          <p:nvPr/>
        </p:nvSpPr>
        <p:spPr>
          <a:xfrm>
            <a:off x="5391150" y="35433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PLACE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0A70B4C-3A0D-4061-A0F9-CD975EFE86FB}"/>
              </a:ext>
            </a:extLst>
          </p:cNvPr>
          <p:cNvSpPr>
            <a:spLocks noGrp="1"/>
          </p:cNvSpPr>
          <p:nvPr/>
        </p:nvSpPr>
        <p:spPr>
          <a:xfrm>
            <a:off x="5410200" y="4000500"/>
            <a:ext cx="1562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장소 검색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방문 횟수 시각화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거리 계산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5E6ECDB-668A-40BA-82A3-A460A62A6AE0}"/>
              </a:ext>
            </a:extLst>
          </p:cNvPr>
          <p:cNvSpPr>
            <a:spLocks noGrp="1"/>
          </p:cNvSpPr>
          <p:nvPr/>
        </p:nvSpPr>
        <p:spPr>
          <a:xfrm>
            <a:off x="7524750" y="3276600"/>
            <a:ext cx="1981200" cy="180975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0FBE01-7F3B-44BB-8B3A-8FA9A9BC50FB}"/>
              </a:ext>
            </a:extLst>
          </p:cNvPr>
          <p:cNvSpPr>
            <a:spLocks noGrp="1"/>
          </p:cNvSpPr>
          <p:nvPr/>
        </p:nvSpPr>
        <p:spPr>
          <a:xfrm>
            <a:off x="7715250" y="35433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200620-CCD4-4217-A49D-1D66EA08D067}"/>
              </a:ext>
            </a:extLst>
          </p:cNvPr>
          <p:cNvSpPr>
            <a:spLocks noGrp="1"/>
          </p:cNvSpPr>
          <p:nvPr/>
        </p:nvSpPr>
        <p:spPr>
          <a:xfrm>
            <a:off x="7734300" y="4000500"/>
            <a:ext cx="1562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관리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Planned → Completed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상태 전이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022D86-646C-4684-9908-B0EABCE39A06}"/>
              </a:ext>
            </a:extLst>
          </p:cNvPr>
          <p:cNvSpPr>
            <a:spLocks noGrp="1"/>
          </p:cNvSpPr>
          <p:nvPr/>
        </p:nvSpPr>
        <p:spPr>
          <a:xfrm>
            <a:off x="9848850" y="3276600"/>
            <a:ext cx="1981200" cy="180975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C21BA9-2B79-45C0-9A97-43BBD1030DA4}"/>
              </a:ext>
            </a:extLst>
          </p:cNvPr>
          <p:cNvSpPr>
            <a:spLocks noGrp="1"/>
          </p:cNvSpPr>
          <p:nvPr/>
        </p:nvSpPr>
        <p:spPr>
          <a:xfrm>
            <a:off x="10039350" y="35433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ACTIVITY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F95C118-C269-46C9-A0F2-3A71E619C1B1}"/>
              </a:ext>
            </a:extLst>
          </p:cNvPr>
          <p:cNvSpPr>
            <a:spLocks noGrp="1"/>
          </p:cNvSpPr>
          <p:nvPr/>
        </p:nvSpPr>
        <p:spPr>
          <a:xfrm>
            <a:off x="10058400" y="4000500"/>
            <a:ext cx="15621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 추출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그룹화 · 매칭</a:t>
            </a:r>
          </a:p>
          <a:p>
            <a:pPr algn="ctr">
              <a:def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ActivityLog 생성</a:t>
            </a:r>
          </a:p>
        </p:txBody>
      </p:sp>
    </p:spTree>
    <p:extLst>
      <p:ext uri="{BB962C8B-B14F-4D97-AF65-F5344CB8AC3E}">
        <p14:creationId xmlns:p14="http://schemas.microsoft.com/office/powerpoint/2010/main" val="590510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459F7A-E54E-45FC-876E-84ED2663E3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251014-53A0-460E-8C52-8C8FC58C94AA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VISUALIZATION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4B9D7C-1822-4B7D-AE57-717273E195C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People 시각화는 관계 밀도를 자아 집중 지도로 보여줍니다.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AF750F-9946-4992-AB14-8CC123C7DF1A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32AE86-F570-436F-8644-CEA36D1AF210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3429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관계 밀도 기반 마인드맵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4852398-E9E9-4B0E-AC87-57D5A3D2A56A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191000" cy="4572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03F2F5-2339-428F-8778-BC7A4498C9EA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NEW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250CEF-C03E-40F7-9C12-DE0731E4B964}"/>
              </a:ext>
            </a:extLst>
          </p:cNvPr>
          <p:cNvSpPr>
            <a:spLocks noGrp="1"/>
          </p:cNvSpPr>
          <p:nvPr/>
        </p:nvSpPr>
        <p:spPr>
          <a:xfrm>
            <a:off x="2000250" y="240030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최근 추가된 관계, 초기 상호작용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26D0AF-0D61-44EE-BAA4-B0764F3956E3}"/>
              </a:ext>
            </a:extLst>
          </p:cNvPr>
          <p:cNvSpPr>
            <a:spLocks noGrp="1"/>
          </p:cNvSpPr>
          <p:nvPr/>
        </p:nvSpPr>
        <p:spPr>
          <a:xfrm>
            <a:off x="800100" y="2876550"/>
            <a:ext cx="4191000" cy="4572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6C4B2B-9FFB-4001-B943-AB432A5D6C4A}"/>
              </a:ext>
            </a:extLst>
          </p:cNvPr>
          <p:cNvSpPr>
            <a:spLocks noGrp="1"/>
          </p:cNvSpPr>
          <p:nvPr/>
        </p:nvSpPr>
        <p:spPr>
          <a:xfrm>
            <a:off x="1009650" y="29908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NORMAL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9FD4AA-937E-49EE-BDAE-3DE5A251AF5C}"/>
              </a:ext>
            </a:extLst>
          </p:cNvPr>
          <p:cNvSpPr>
            <a:spLocks noGrp="1"/>
          </p:cNvSpPr>
          <p:nvPr/>
        </p:nvSpPr>
        <p:spPr>
          <a:xfrm>
            <a:off x="2000250" y="29908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정기적 관계, 중간 수준의 참여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103903-9B14-40F5-9E5D-118A44D7F21A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4191000" cy="4572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D2002F2-F7EC-41B6-BEDB-C0B9305DDFFB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BEST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573914-026F-4434-8CC0-66A5FB91F084}"/>
              </a:ext>
            </a:extLst>
          </p:cNvPr>
          <p:cNvSpPr>
            <a:spLocks noGrp="1"/>
          </p:cNvSpPr>
          <p:nvPr/>
        </p:nvSpPr>
        <p:spPr>
          <a:xfrm>
            <a:off x="2000250" y="358140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고밀도 관계, 잦은 상호작용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2D334C-44F4-4020-BC02-CC9D1BA432B9}"/>
              </a:ext>
            </a:extLst>
          </p:cNvPr>
          <p:cNvSpPr>
            <a:spLocks noGrp="1"/>
          </p:cNvSpPr>
          <p:nvPr/>
        </p:nvSpPr>
        <p:spPr>
          <a:xfrm>
            <a:off x="800100" y="4057650"/>
            <a:ext cx="4191000" cy="4572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AA23C9-4CEE-4B65-B93D-BA0657820817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28D9"/>
                </a:solidFill>
                <a:latin typeface="Aptos Mono"/>
                <a:ea typeface="Aptos Mono"/>
                <a:cs typeface="Aptos Mono"/>
              </a:rPr>
              <a:t>OLD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0EFC2E-E466-40DF-80DC-1A7BC2177767}"/>
              </a:ext>
            </a:extLst>
          </p:cNvPr>
          <p:cNvSpPr>
            <a:spLocks noGrp="1"/>
          </p:cNvSpPr>
          <p:nvPr/>
        </p:nvSpPr>
        <p:spPr>
          <a:xfrm>
            <a:off x="2000250" y="4171950"/>
            <a:ext cx="2724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활동이 줄어든 관계, 재확인 필요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rcRect t="14007" b="14007"/>
          <a:stretch>
            <a:fillRect/>
          </a:stretch>
        </p:blipFill>
        <p:spPr>
          <a:xfrm>
            <a:off x="6343650" y="1504950"/>
            <a:ext cx="4191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8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07F9A45-DADD-4F6B-A16A-23F12878B8D9}"/>
              </a:ext>
            </a:extLst>
          </p:cNvPr>
          <p:cNvSpPr>
            <a:spLocks noGrp="1"/>
          </p:cNvSpPr>
          <p:nvPr/>
        </p:nvSpPr>
        <p:spPr>
          <a:xfrm>
            <a:off x="0" y="41910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300BC8-F02D-45A8-BF78-C8480577DEEF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DEMO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1C0991-E849-4194-907C-11A3DF7FFCD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데모는 한 장의 사진이 기록으로 바뀌는 과정을 보여줍니다.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FA2736-431D-4979-B435-C8B48E68A66F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rcRect t="24310" b="24310"/>
          <a:stretch>
            <a:fillRect/>
          </a:stretch>
        </p:blipFill>
        <p:spPr>
          <a:xfrm>
            <a:off x="3409950" y="1466850"/>
            <a:ext cx="5372100" cy="409575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094C11A-8326-440C-A3AE-BBA8434B1869}"/>
              </a:ext>
            </a:extLst>
          </p:cNvPr>
          <p:cNvSpPr>
            <a:spLocks noGrp="1"/>
          </p:cNvSpPr>
          <p:nvPr/>
        </p:nvSpPr>
        <p:spPr>
          <a:xfrm>
            <a:off x="5524500" y="2990850"/>
            <a:ext cx="1143000" cy="857250"/>
          </a:xfrm>
          <a:prstGeom prst="ellipse">
            <a:avLst/>
          </a:prstGeom>
          <a:solidFill>
            <a:srgbClr val="6D28D9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그래픽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24550" y="3219450"/>
            <a:ext cx="400050" cy="4000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EBEC2CE-378D-4444-8FD9-BD2799E6089F}"/>
              </a:ext>
            </a:extLst>
          </p:cNvPr>
          <p:cNvSpPr>
            <a:spLocks noGrp="1"/>
          </p:cNvSpPr>
          <p:nvPr/>
        </p:nvSpPr>
        <p:spPr>
          <a:xfrm>
            <a:off x="1238250" y="6000750"/>
            <a:ext cx="971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rPr>
              <a:t>업로드 → EXIF 추출 → 얼굴 인식 → 장소·일정 매칭 → 기록 완성</a:t>
            </a:r>
          </a:p>
        </p:txBody>
      </p:sp>
    </p:spTree>
    <p:extLst>
      <p:ext uri="{BB962C8B-B14F-4D97-AF65-F5344CB8AC3E}">
        <p14:creationId xmlns:p14="http://schemas.microsoft.com/office/powerpoint/2010/main" val="54831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114C39B-3A5B-4E5D-B6A6-6D91863BB1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6256" y="781050"/>
            <a:ext cx="4159489" cy="4191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0CEF76D-5CD1-41E9-A8B2-52C7F1B03C3C}"/>
              </a:ext>
            </a:extLst>
          </p:cNvPr>
          <p:cNvSpPr>
            <a:spLocks noGrp="1"/>
          </p:cNvSpPr>
          <p:nvPr/>
        </p:nvSpPr>
        <p:spPr>
          <a:xfrm>
            <a:off x="0" y="525780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www.cluster-app.kr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06B302-1EAB-4358-9556-616409AEBEAC}"/>
              </a:ext>
            </a:extLst>
          </p:cNvPr>
          <p:cNvSpPr>
            <a:spLocks noGrp="1"/>
          </p:cNvSpPr>
          <p:nvPr/>
        </p:nvSpPr>
        <p:spPr>
          <a:xfrm>
            <a:off x="0" y="567690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지금 바로 접속해보세요</a:t>
            </a:r>
          </a:p>
        </p:txBody>
      </p:sp>
    </p:spTree>
    <p:extLst>
      <p:ext uri="{BB962C8B-B14F-4D97-AF65-F5344CB8AC3E}">
        <p14:creationId xmlns:p14="http://schemas.microsoft.com/office/powerpoint/2010/main" val="10602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7AF178F7-03FB-4539-917D-9AAB72328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40080B-306C-4DFD-9BB6-4017249706E0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LIMITATIONS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DB87C3-13F2-4309-8A15-F7C0D9595FD1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현재 한계는 자동화 정확도와 입력 데이터 신뢰성에 집중됩니다.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945890-2301-4AF6-A284-93F051C7EB7B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2D3116-C55C-4083-8D60-6CC00FE3A8B4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0744200" cy="457200"/>
          </a:xfrm>
          <a:prstGeom prst="rect">
            <a:avLst/>
          </a:prstGeom>
          <a:solidFill>
            <a:srgbClr val="3B0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CEAAA6-8898-4402-BF23-0A2B77817915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66B814-C22B-41B3-B080-07D9FC91BC25}"/>
              </a:ext>
            </a:extLst>
          </p:cNvPr>
          <p:cNvSpPr>
            <a:spLocks noGrp="1"/>
          </p:cNvSpPr>
          <p:nvPr/>
        </p:nvSpPr>
        <p:spPr>
          <a:xfrm>
            <a:off x="2000250" y="1638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462831-F46B-44EF-923B-FE7F123E352F}"/>
              </a:ext>
            </a:extLst>
          </p:cNvPr>
          <p:cNvSpPr>
            <a:spLocks noGrp="1"/>
          </p:cNvSpPr>
          <p:nvPr/>
        </p:nvSpPr>
        <p:spPr>
          <a:xfrm>
            <a:off x="4248150" y="16383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85EA7-0D87-4FA0-93DD-F1618946E673}"/>
              </a:ext>
            </a:extLst>
          </p:cNvPr>
          <p:cNvSpPr>
            <a:spLocks noGrp="1"/>
          </p:cNvSpPr>
          <p:nvPr/>
        </p:nvSpPr>
        <p:spPr>
          <a:xfrm>
            <a:off x="7620000" y="16383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문제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934B53-3211-41A0-8DB3-7CB2FE665EF3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10744200" cy="914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894562-C47D-4C48-A02A-338BE9FB7974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7E54FA-43A6-4084-83B0-77A53091BFFC}"/>
              </a:ext>
            </a:extLst>
          </p:cNvPr>
          <p:cNvSpPr>
            <a:spLocks noGrp="1"/>
          </p:cNvSpPr>
          <p:nvPr/>
        </p:nvSpPr>
        <p:spPr>
          <a:xfrm>
            <a:off x="2000250" y="22574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얼굴 임베딩 threshold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415D03-C6A0-495A-9509-74A1F64F107A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등록 인물과 미등록 인물을 안정적으로 구분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D0F094-48BA-45CB-AD0D-E617F8326347}"/>
              </a:ext>
            </a:extLst>
          </p:cNvPr>
          <p:cNvSpPr>
            <a:spLocks noGrp="1"/>
          </p:cNvSpPr>
          <p:nvPr/>
        </p:nvSpPr>
        <p:spPr>
          <a:xfrm>
            <a:off x="7620000" y="219075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실사용 환경 검증 부족으로 오인식 가능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53685A-7144-4EE4-ACDE-1226AA181B70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10744200" cy="9144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228E13-E959-4F85-9853-45AA056C00FA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7AA37E-CFB2-4F83-8210-7AB79A56D439}"/>
              </a:ext>
            </a:extLst>
          </p:cNvPr>
          <p:cNvSpPr>
            <a:spLocks noGrp="1"/>
          </p:cNvSpPr>
          <p:nvPr/>
        </p:nvSpPr>
        <p:spPr>
          <a:xfrm>
            <a:off x="2000250" y="338137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사전 등록 의존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C62D204-9495-4D0F-8670-BDB425BB8714}"/>
              </a:ext>
            </a:extLst>
          </p:cNvPr>
          <p:cNvSpPr>
            <a:spLocks noGrp="1"/>
          </p:cNvSpPr>
          <p:nvPr/>
        </p:nvSpPr>
        <p:spPr>
          <a:xfrm>
            <a:off x="4248150" y="33337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업로드만으로 기록이 완성되는 경험 지향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88B465-5CF9-41F1-B17A-E0A97CB327C8}"/>
              </a:ext>
            </a:extLst>
          </p:cNvPr>
          <p:cNvSpPr>
            <a:spLocks noGrp="1"/>
          </p:cNvSpPr>
          <p:nvPr/>
        </p:nvSpPr>
        <p:spPr>
          <a:xfrm>
            <a:off x="7620000" y="331470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People·Place·Schedule 선등록이 필요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D3D2EC-2301-481C-A3FC-4567D0E71D38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10744200" cy="914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9AA83D1-62DE-4BAD-ABC4-FC86BDC783A3}"/>
              </a:ext>
            </a:extLst>
          </p:cNvPr>
          <p:cNvSpPr>
            <a:spLocks noGrp="1"/>
          </p:cNvSpPr>
          <p:nvPr/>
        </p:nvSpPr>
        <p:spPr>
          <a:xfrm>
            <a:off x="876300" y="450532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624ECC6-8761-4A2E-AABC-0B03BB83B982}"/>
              </a:ext>
            </a:extLst>
          </p:cNvPr>
          <p:cNvSpPr>
            <a:spLocks noGrp="1"/>
          </p:cNvSpPr>
          <p:nvPr/>
        </p:nvSpPr>
        <p:spPr>
          <a:xfrm>
            <a:off x="2000250" y="45053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EXIF·보안 제약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918518E-D8D8-48DB-9D88-69EAB7CD871E}"/>
              </a:ext>
            </a:extLst>
          </p:cNvPr>
          <p:cNvSpPr>
            <a:spLocks noGrp="1"/>
          </p:cNvSpPr>
          <p:nvPr/>
        </p:nvSpPr>
        <p:spPr>
          <a:xfrm>
            <a:off x="4248150" y="44577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 매칭과 생체정보 보호를 동시에 만족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6C5DDB-6F5D-4420-B345-84CF1F8FD2C3}"/>
              </a:ext>
            </a:extLst>
          </p:cNvPr>
          <p:cNvSpPr>
            <a:spLocks noGrp="1"/>
          </p:cNvSpPr>
          <p:nvPr/>
        </p:nvSpPr>
        <p:spPr>
          <a:xfrm>
            <a:off x="7620000" y="4438650"/>
            <a:ext cx="3429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SNS 공유 사진의 EXIF 손실, 임베딩 암호화 미적용</a:t>
            </a:r>
          </a:p>
        </p:txBody>
      </p:sp>
    </p:spTree>
    <p:extLst>
      <p:ext uri="{BB962C8B-B14F-4D97-AF65-F5344CB8AC3E}">
        <p14:creationId xmlns:p14="http://schemas.microsoft.com/office/powerpoint/2010/main" val="788671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4A1A40FE-2878-40C8-AD26-7FC2835FBF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C81F1-F3F2-45DA-BF6A-26A67A51953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ROADMAP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70C9F0-F894-44B2-87DE-7A1E269BF453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8191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향후 계획은 한계와 1:1로 대응합니다.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298C7B-4902-499E-960D-FE5C841FC2C7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10744200" cy="9525"/>
          </a:xfrm>
          <a:prstGeom prst="rect">
            <a:avLst/>
          </a:prstGeom>
          <a:solidFill>
            <a:srgbClr val="D8CF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4E5F59-7B1A-4DED-946A-89C282453BA7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0744200" cy="457200"/>
          </a:xfrm>
          <a:prstGeom prst="rect">
            <a:avLst/>
          </a:prstGeom>
          <a:solidFill>
            <a:srgbClr val="3B0A4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2BDC66-3E35-40A7-B9F8-9ADAA2BE7249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45EB99-45B2-4B02-BAFA-18986F466502}"/>
              </a:ext>
            </a:extLst>
          </p:cNvPr>
          <p:cNvSpPr>
            <a:spLocks noGrp="1"/>
          </p:cNvSpPr>
          <p:nvPr/>
        </p:nvSpPr>
        <p:spPr>
          <a:xfrm>
            <a:off x="2000250" y="1638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321CD6-6902-4D10-8631-703C2AD5CF21}"/>
              </a:ext>
            </a:extLst>
          </p:cNvPr>
          <p:cNvSpPr>
            <a:spLocks noGrp="1"/>
          </p:cNvSpPr>
          <p:nvPr/>
        </p:nvSpPr>
        <p:spPr>
          <a:xfrm>
            <a:off x="4248150" y="163830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80E118-9081-4B4E-97C5-814E72F5BAAC}"/>
              </a:ext>
            </a:extLst>
          </p:cNvPr>
          <p:cNvSpPr>
            <a:spLocks noGrp="1"/>
          </p:cNvSpPr>
          <p:nvPr/>
        </p:nvSpPr>
        <p:spPr>
          <a:xfrm>
            <a:off x="7620000" y="16383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문제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62C95E-B4FC-4F2D-8466-F7C88E406DB3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10744200" cy="914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3CD94E-260C-4DD3-9EDC-17F1CDCC1F59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044C6B-6FA5-4ABA-ACB3-6D75ABD49FA1}"/>
              </a:ext>
            </a:extLst>
          </p:cNvPr>
          <p:cNvSpPr>
            <a:spLocks noGrp="1"/>
          </p:cNvSpPr>
          <p:nvPr/>
        </p:nvSpPr>
        <p:spPr>
          <a:xfrm>
            <a:off x="2000250" y="22574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인식 정확도 고도화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542BFE-A6E6-4EEA-97E5-47A861C4CC13}"/>
              </a:ext>
            </a:extLst>
          </p:cNvPr>
          <p:cNvSpPr>
            <a:spLocks noGrp="1"/>
          </p:cNvSpPr>
          <p:nvPr/>
        </p:nvSpPr>
        <p:spPr>
          <a:xfrm>
            <a:off x="4248150" y="21907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threshold 검증과 사용자 피드백 루프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640BBC-FA31-418B-9B19-274E9EE0E0FF}"/>
              </a:ext>
            </a:extLst>
          </p:cNvPr>
          <p:cNvSpPr>
            <a:spLocks noGrp="1"/>
          </p:cNvSpPr>
          <p:nvPr/>
        </p:nvSpPr>
        <p:spPr>
          <a:xfrm>
            <a:off x="7620000" y="2133600"/>
            <a:ext cx="342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실사용자 데이터 기반 튜닝, 상용 Face API 검토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1FA537-74BB-4D68-8FD9-151DEAF569D6}"/>
              </a:ext>
            </a:extLst>
          </p:cNvPr>
          <p:cNvSpPr>
            <a:spLocks noGrp="1"/>
          </p:cNvSpPr>
          <p:nvPr/>
        </p:nvSpPr>
        <p:spPr>
          <a:xfrm>
            <a:off x="723900" y="3086100"/>
            <a:ext cx="10744200" cy="914400"/>
          </a:xfrm>
          <a:prstGeom prst="rect">
            <a:avLst/>
          </a:prstGeom>
          <a:solidFill>
            <a:srgbClr val="F7F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9A2164-3757-4D6B-BC0A-AEC93C383570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B41FCE-24A3-428E-A421-921014527836}"/>
              </a:ext>
            </a:extLst>
          </p:cNvPr>
          <p:cNvSpPr>
            <a:spLocks noGrp="1"/>
          </p:cNvSpPr>
          <p:nvPr/>
        </p:nvSpPr>
        <p:spPr>
          <a:xfrm>
            <a:off x="2000250" y="338137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온보딩 자동화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EA3ED5-9789-4955-9E53-1517F65DD21F}"/>
              </a:ext>
            </a:extLst>
          </p:cNvPr>
          <p:cNvSpPr>
            <a:spLocks noGrp="1"/>
          </p:cNvSpPr>
          <p:nvPr/>
        </p:nvSpPr>
        <p:spPr>
          <a:xfrm>
            <a:off x="4248150" y="331470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선등록 부담을 기존 데이터 연동으로 축소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C46FA7-B9A4-4CF7-8E53-3EE5359D9569}"/>
              </a:ext>
            </a:extLst>
          </p:cNvPr>
          <p:cNvSpPr>
            <a:spLocks noGrp="1"/>
          </p:cNvSpPr>
          <p:nvPr/>
        </p:nvSpPr>
        <p:spPr>
          <a:xfrm>
            <a:off x="7620000" y="3257550"/>
            <a:ext cx="342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연락처·사진·캘린더 연동으로 초기 데이터 확보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5A6CAC-5CBB-420E-A555-DB1C2215F0BD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10744200" cy="914400"/>
          </a:xfrm>
          <a:prstGeom prst="rect">
            <a:avLst/>
          </a:prstGeom>
          <a:solidFill>
            <a:srgbClr val="EDE9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E36B3C-6506-4E1B-B0DD-2E9E3D5012CB}"/>
              </a:ext>
            </a:extLst>
          </p:cNvPr>
          <p:cNvSpPr>
            <a:spLocks noGrp="1"/>
          </p:cNvSpPr>
          <p:nvPr/>
        </p:nvSpPr>
        <p:spPr>
          <a:xfrm>
            <a:off x="876300" y="4505325"/>
            <a:ext cx="85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BAB8D74-0CE4-4EEE-93A0-9F048CBCFA5D}"/>
              </a:ext>
            </a:extLst>
          </p:cNvPr>
          <p:cNvSpPr>
            <a:spLocks noGrp="1"/>
          </p:cNvSpPr>
          <p:nvPr/>
        </p:nvSpPr>
        <p:spPr>
          <a:xfrm>
            <a:off x="2000250" y="4505325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 보완·보안 강화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5AD6F9-4358-454C-A1C9-C64333814F4E}"/>
              </a:ext>
            </a:extLst>
          </p:cNvPr>
          <p:cNvSpPr>
            <a:spLocks noGrp="1"/>
          </p:cNvSpPr>
          <p:nvPr/>
        </p:nvSpPr>
        <p:spPr>
          <a:xfrm>
            <a:off x="4248150" y="44386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메타데이터 부재와 생체정보 보호 문제 대응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41BF57-F4F8-4A43-9D36-4D5A1313BD17}"/>
              </a:ext>
            </a:extLst>
          </p:cNvPr>
          <p:cNvSpPr>
            <a:spLocks noGrp="1"/>
          </p:cNvSpPr>
          <p:nvPr/>
        </p:nvSpPr>
        <p:spPr>
          <a:xfrm>
            <a:off x="7620000" y="4381500"/>
            <a:ext cx="342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최소 입력 UI, AES-256 암호화, Refresh Token·Blacklist</a:t>
            </a:r>
          </a:p>
        </p:txBody>
      </p:sp>
    </p:spTree>
    <p:extLst>
      <p:ext uri="{BB962C8B-B14F-4D97-AF65-F5344CB8AC3E}">
        <p14:creationId xmlns:p14="http://schemas.microsoft.com/office/powerpoint/2010/main" val="81841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64DE90D-1FB7-498F-94E8-CB5CF7488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4E7C66-F7E1-46BD-8E82-10EF978FC662}"/>
              </a:ext>
            </a:extLst>
          </p:cNvPr>
          <p:cNvSpPr>
            <a:spLocks noGrp="1"/>
          </p:cNvSpPr>
          <p:nvPr/>
        </p:nvSpPr>
        <p:spPr>
          <a:xfrm>
            <a:off x="0" y="1085850"/>
            <a:ext cx="1219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6D28D9"/>
                </a:solidFill>
                <a:latin typeface="Apple SD Gothic Neo"/>
                <a:ea typeface="Apple SD Gothic Neo"/>
                <a:cs typeface="Apple SD Gothic Neo"/>
              </a:rPr>
              <a:t>CLUSTER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6EBE47-D867-4936-8ACB-6B12606713EA}"/>
              </a:ext>
            </a:extLst>
          </p:cNvPr>
          <p:cNvSpPr>
            <a:spLocks noGrp="1"/>
          </p:cNvSpPr>
          <p:nvPr/>
        </p:nvSpPr>
        <p:spPr>
          <a:xfrm>
            <a:off x="4572000" y="1962150"/>
            <a:ext cx="3048000" cy="38100"/>
          </a:xfrm>
          <a:prstGeom prst="rect">
            <a:avLst/>
          </a:prstGeom>
          <a:solidFill>
            <a:srgbClr val="6D28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1BC6F-4EB6-4ED2-84EA-CF6268723A56}"/>
              </a:ext>
            </a:extLst>
          </p:cNvPr>
          <p:cNvSpPr>
            <a:spLocks noGrp="1"/>
          </p:cNvSpPr>
          <p:nvPr/>
        </p:nvSpPr>
        <p:spPr>
          <a:xfrm>
            <a:off x="0" y="2647950"/>
            <a:ext cx="1219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People — 누구와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D4A0A4-A7E0-463F-B7B4-2E530C9C812B}"/>
              </a:ext>
            </a:extLst>
          </p:cNvPr>
          <p:cNvSpPr>
            <a:spLocks noGrp="1"/>
          </p:cNvSpPr>
          <p:nvPr/>
        </p:nvSpPr>
        <p:spPr>
          <a:xfrm>
            <a:off x="0" y="3162300"/>
            <a:ext cx="1219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Place — 어디서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FA7A86-EA5C-4A08-8C87-D87A18A9A697}"/>
              </a:ext>
            </a:extLst>
          </p:cNvPr>
          <p:cNvSpPr>
            <a:spLocks noGrp="1"/>
          </p:cNvSpPr>
          <p:nvPr/>
        </p:nvSpPr>
        <p:spPr>
          <a:xfrm>
            <a:off x="0" y="3676650"/>
            <a:ext cx="12192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Calendar — 언제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BCE77D-50DA-4B2D-8712-FC7DCAFD8406}"/>
              </a:ext>
            </a:extLst>
          </p:cNvPr>
          <p:cNvSpPr>
            <a:spLocks noGrp="1"/>
          </p:cNvSpPr>
          <p:nvPr/>
        </p:nvSpPr>
        <p:spPr>
          <a:xfrm>
            <a:off x="0" y="5314950"/>
            <a:ext cx="1219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3B0A45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7763516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</Words>
  <Application>Microsoft Macintosh PowerPoint</Application>
  <DocSecurity>0</DocSecurity>
  <PresentationFormat>와이드스크린</PresentationFormat>
  <Paragraphs>183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Apple SD Gothic Neo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최우석</cp:lastModifiedBy>
  <cp:revision>1</cp:revision>
  <dcterms:created xsi:type="dcterms:W3CDTF">2026-05-18T13:56:09Z</dcterms:created>
  <dcterms:modified xsi:type="dcterms:W3CDTF">2026-05-18T14:27:51Z</dcterms:modified>
</cp:coreProperties>
</file>